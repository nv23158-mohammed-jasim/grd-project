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47120" cy="1645920"/>
          </a:xfrm>
          <a:prstGeom prst="rect">
            <a:avLst/>
          </a:prstGeom>
          <a:noFill/>
        </p:spPr>
        <p:txBody>
          <a:bodyPr wrap="none">
            <a:spAutoFit/>
          </a:bodyPr>
          <a:lstStyle/>
          <a:p>
            <a:pPr algn="ctr"/>
            <a:r>
              <a:rPr sz="14000" b="1">
                <a:solidFill>
                  <a:srgbClr val="DC2626"/>
                </a:solidFill>
                <a:latin typeface="Calibri"/>
              </a:rPr>
              <a:t>LAB</a:t>
            </a:r>
          </a:p>
        </p:txBody>
      </p:sp>
      <p:sp>
        <p:nvSpPr>
          <p:cNvPr id="5" name="TextBox 4"/>
          <p:cNvSpPr txBox="1"/>
          <p:nvPr/>
        </p:nvSpPr>
        <p:spPr>
          <a:xfrm>
            <a:off x="457200" y="3108960"/>
            <a:ext cx="11247120" cy="548640"/>
          </a:xfrm>
          <a:prstGeom prst="rect">
            <a:avLst/>
          </a:prstGeom>
          <a:noFill/>
        </p:spPr>
        <p:txBody>
          <a:bodyPr wrap="square" lIns="0" rIns="0" tIns="0" bIns="0">
            <a:spAutoFit/>
          </a:bodyPr>
          <a:lstStyle/>
          <a:p>
            <a:pPr algn="ctr"/>
            <a:r>
              <a:rPr sz="2600" b="1">
                <a:solidFill>
                  <a:srgbClr val="FFFFFF"/>
                </a:solidFill>
                <a:latin typeface="Calibri"/>
              </a:rPr>
              <a:t>AI-Powered Fitness Tracking &amp; Pose Detection</a:t>
            </a:r>
          </a:p>
        </p:txBody>
      </p:sp>
      <p:sp>
        <p:nvSpPr>
          <p:cNvPr id="6" name="TextBox 5"/>
          <p:cNvSpPr txBox="1"/>
          <p:nvPr/>
        </p:nvSpPr>
        <p:spPr>
          <a:xfrm>
            <a:off x="457200" y="3703320"/>
            <a:ext cx="11247120" cy="365760"/>
          </a:xfrm>
          <a:prstGeom prst="rect">
            <a:avLst/>
          </a:prstGeom>
          <a:noFill/>
        </p:spPr>
        <p:txBody>
          <a:bodyPr wrap="square" lIns="0" rIns="0" tIns="0" bIns="0">
            <a:spAutoFit/>
          </a:bodyPr>
          <a:lstStyle/>
          <a:p>
            <a:pPr algn="ctr"/>
            <a:r>
              <a:rPr sz="1600" b="0">
                <a:solidFill>
                  <a:srgbClr val="A1A1AA"/>
                </a:solidFill>
                <a:latin typeface="Calibri"/>
              </a:rPr>
              <a:t>Graduation Project Report  •  2026</a:t>
            </a:r>
          </a:p>
        </p:txBody>
      </p:sp>
      <p:sp>
        <p:nvSpPr>
          <p:cNvPr id="7" name="Rounded Rectangle 6"/>
          <p:cNvSpPr/>
          <p:nvPr/>
        </p:nvSpPr>
        <p:spPr>
          <a:xfrm>
            <a:off x="4023360" y="4480560"/>
            <a:ext cx="4114800" cy="50292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IT  •  CLOUD COMPUTING  •  12.CCP</a:t>
            </a:r>
          </a:p>
        </p:txBody>
      </p:sp>
      <p:sp>
        <p:nvSpPr>
          <p:cNvPr id="8" name="TextBox 7"/>
          <p:cNvSpPr txBox="1"/>
          <p:nvPr/>
        </p:nvSpPr>
        <p:spPr>
          <a:xfrm>
            <a:off x="457200" y="5212080"/>
            <a:ext cx="11247120" cy="365760"/>
          </a:xfrm>
          <a:prstGeom prst="rect">
            <a:avLst/>
          </a:prstGeom>
          <a:noFill/>
        </p:spPr>
        <p:txBody>
          <a:bodyPr wrap="square" lIns="0" rIns="0" tIns="0" bIns="0">
            <a:spAutoFit/>
          </a:bodyPr>
          <a:lstStyle/>
          <a:p>
            <a:pPr algn="ctr"/>
            <a:r>
              <a:rPr sz="1400" b="0">
                <a:solidFill>
                  <a:srgbClr val="A1A1AA"/>
                </a:solidFill>
                <a:latin typeface="Calibri"/>
              </a:rPr>
              <a:t>Presented by Class 12.CCP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01  ·  THE TEAM</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Student Names &amp; Roles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05840" y="202082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1</a:t>
            </a:r>
          </a:p>
        </p:txBody>
      </p:sp>
      <p:sp>
        <p:nvSpPr>
          <p:cNvPr id="9" name="TextBox 8"/>
          <p:cNvSpPr txBox="1"/>
          <p:nvPr/>
        </p:nvSpPr>
        <p:spPr>
          <a:xfrm>
            <a:off x="1783080" y="1965959"/>
            <a:ext cx="4114800" cy="365760"/>
          </a:xfrm>
          <a:prstGeom prst="rect">
            <a:avLst/>
          </a:prstGeom>
          <a:noFill/>
        </p:spPr>
        <p:txBody>
          <a:bodyPr wrap="square" lIns="0" rIns="0" tIns="0" bIns="0">
            <a:spAutoFit/>
          </a:bodyPr>
          <a:lstStyle/>
          <a:p>
            <a:pPr algn="l"/>
            <a:r>
              <a:rPr sz="2000" b="1">
                <a:solidFill>
                  <a:srgbClr val="FFFFFF"/>
                </a:solidFill>
                <a:latin typeface="Calibri"/>
              </a:rPr>
              <a:t>Mohammed Jasim</a:t>
            </a:r>
          </a:p>
        </p:txBody>
      </p:sp>
      <p:sp>
        <p:nvSpPr>
          <p:cNvPr id="10" name="TextBox 9"/>
          <p:cNvSpPr txBox="1"/>
          <p:nvPr/>
        </p:nvSpPr>
        <p:spPr>
          <a:xfrm>
            <a:off x="1783080" y="2285999"/>
            <a:ext cx="8686800" cy="320040"/>
          </a:xfrm>
          <a:prstGeom prst="rect">
            <a:avLst/>
          </a:prstGeom>
          <a:noFill/>
        </p:spPr>
        <p:txBody>
          <a:bodyPr wrap="square" lIns="0" rIns="0" tIns="0" bIns="0">
            <a:spAutoFit/>
          </a:bodyPr>
          <a:lstStyle/>
          <a:p>
            <a:pPr algn="l"/>
            <a:r>
              <a:rPr sz="1300" b="0">
                <a:solidFill>
                  <a:srgbClr val="A1A1AA"/>
                </a:solidFill>
                <a:latin typeface="Calibri"/>
              </a:rPr>
              <a:t>Team Leader · Technical Writer · AI Model Designer</a:t>
            </a:r>
          </a:p>
        </p:txBody>
      </p:sp>
      <p:sp>
        <p:nvSpPr>
          <p:cNvPr id="11" name="Rounded Rectangle 10"/>
          <p:cNvSpPr/>
          <p:nvPr/>
        </p:nvSpPr>
        <p:spPr>
          <a:xfrm>
            <a:off x="731520" y="274319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88950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2</a:t>
            </a:r>
          </a:p>
        </p:txBody>
      </p:sp>
      <p:sp>
        <p:nvSpPr>
          <p:cNvPr id="13" name="TextBox 12"/>
          <p:cNvSpPr txBox="1"/>
          <p:nvPr/>
        </p:nvSpPr>
        <p:spPr>
          <a:xfrm>
            <a:off x="1783080" y="2834639"/>
            <a:ext cx="4114800" cy="365760"/>
          </a:xfrm>
          <a:prstGeom prst="rect">
            <a:avLst/>
          </a:prstGeom>
          <a:noFill/>
        </p:spPr>
        <p:txBody>
          <a:bodyPr wrap="square" lIns="0" rIns="0" tIns="0" bIns="0">
            <a:spAutoFit/>
          </a:bodyPr>
          <a:lstStyle/>
          <a:p>
            <a:pPr algn="l"/>
            <a:r>
              <a:rPr sz="2000" b="1">
                <a:solidFill>
                  <a:srgbClr val="FFFFFF"/>
                </a:solidFill>
                <a:latin typeface="Calibri"/>
              </a:rPr>
              <a:t>Nasser Kuwaitan</a:t>
            </a:r>
          </a:p>
        </p:txBody>
      </p:sp>
      <p:sp>
        <p:nvSpPr>
          <p:cNvPr id="14" name="TextBox 13"/>
          <p:cNvSpPr txBox="1"/>
          <p:nvPr/>
        </p:nvSpPr>
        <p:spPr>
          <a:xfrm>
            <a:off x="1783080" y="3154679"/>
            <a:ext cx="8686800" cy="320040"/>
          </a:xfrm>
          <a:prstGeom prst="rect">
            <a:avLst/>
          </a:prstGeom>
          <a:noFill/>
        </p:spPr>
        <p:txBody>
          <a:bodyPr wrap="square" lIns="0" rIns="0" tIns="0" bIns="0">
            <a:spAutoFit/>
          </a:bodyPr>
          <a:lstStyle/>
          <a:p>
            <a:pPr algn="l"/>
            <a:r>
              <a:rPr sz="1300" b="0">
                <a:solidFill>
                  <a:srgbClr val="A1A1AA"/>
                </a:solidFill>
                <a:latin typeface="Calibri"/>
              </a:rPr>
              <a:t>UI Designer</a:t>
            </a:r>
          </a:p>
        </p:txBody>
      </p:sp>
      <p:sp>
        <p:nvSpPr>
          <p:cNvPr id="15" name="Rounded Rectangle 14"/>
          <p:cNvSpPr/>
          <p:nvPr/>
        </p:nvSpPr>
        <p:spPr>
          <a:xfrm>
            <a:off x="731520" y="361187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5818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3</a:t>
            </a:r>
          </a:p>
        </p:txBody>
      </p:sp>
      <p:sp>
        <p:nvSpPr>
          <p:cNvPr id="17" name="TextBox 16"/>
          <p:cNvSpPr txBox="1"/>
          <p:nvPr/>
        </p:nvSpPr>
        <p:spPr>
          <a:xfrm>
            <a:off x="1783080" y="3703319"/>
            <a:ext cx="4114800" cy="365760"/>
          </a:xfrm>
          <a:prstGeom prst="rect">
            <a:avLst/>
          </a:prstGeom>
          <a:noFill/>
        </p:spPr>
        <p:txBody>
          <a:bodyPr wrap="square" lIns="0" rIns="0" tIns="0" bIns="0">
            <a:spAutoFit/>
          </a:bodyPr>
          <a:lstStyle/>
          <a:p>
            <a:pPr algn="l"/>
            <a:r>
              <a:rPr sz="2000" b="1">
                <a:solidFill>
                  <a:srgbClr val="FFFFFF"/>
                </a:solidFill>
                <a:latin typeface="Calibri"/>
              </a:rPr>
              <a:t>Ali Ramzi</a:t>
            </a:r>
          </a:p>
        </p:txBody>
      </p:sp>
      <p:sp>
        <p:nvSpPr>
          <p:cNvPr id="18" name="TextBox 17"/>
          <p:cNvSpPr txBox="1"/>
          <p:nvPr/>
        </p:nvSpPr>
        <p:spPr>
          <a:xfrm>
            <a:off x="1783080" y="4023359"/>
            <a:ext cx="8686800" cy="320040"/>
          </a:xfrm>
          <a:prstGeom prst="rect">
            <a:avLst/>
          </a:prstGeom>
          <a:noFill/>
        </p:spPr>
        <p:txBody>
          <a:bodyPr wrap="square" lIns="0" rIns="0" tIns="0" bIns="0">
            <a:spAutoFit/>
          </a:bodyPr>
          <a:lstStyle/>
          <a:p>
            <a:pPr algn="l"/>
            <a:r>
              <a:rPr sz="1300" b="0">
                <a:solidFill>
                  <a:srgbClr val="A1A1AA"/>
                </a:solidFill>
                <a:latin typeface="Calibri"/>
              </a:rPr>
              <a:t>Full Website Tester</a:t>
            </a:r>
          </a:p>
        </p:txBody>
      </p:sp>
      <p:sp>
        <p:nvSpPr>
          <p:cNvPr id="19" name="Rounded Rectangle 18"/>
          <p:cNvSpPr/>
          <p:nvPr/>
        </p:nvSpPr>
        <p:spPr>
          <a:xfrm>
            <a:off x="731520" y="448055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05840" y="462686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4</a:t>
            </a:r>
          </a:p>
        </p:txBody>
      </p:sp>
      <p:sp>
        <p:nvSpPr>
          <p:cNvPr id="21" name="TextBox 20"/>
          <p:cNvSpPr txBox="1"/>
          <p:nvPr/>
        </p:nvSpPr>
        <p:spPr>
          <a:xfrm>
            <a:off x="1783080" y="4571999"/>
            <a:ext cx="4114800" cy="365760"/>
          </a:xfrm>
          <a:prstGeom prst="rect">
            <a:avLst/>
          </a:prstGeom>
          <a:noFill/>
        </p:spPr>
        <p:txBody>
          <a:bodyPr wrap="square" lIns="0" rIns="0" tIns="0" bIns="0">
            <a:spAutoFit/>
          </a:bodyPr>
          <a:lstStyle/>
          <a:p>
            <a:pPr algn="l"/>
            <a:r>
              <a:rPr sz="2000" b="1">
                <a:solidFill>
                  <a:srgbClr val="FFFFFF"/>
                </a:solidFill>
                <a:latin typeface="Calibri"/>
              </a:rPr>
              <a:t>Mohammd Waleed</a:t>
            </a:r>
          </a:p>
        </p:txBody>
      </p:sp>
      <p:sp>
        <p:nvSpPr>
          <p:cNvPr id="22" name="TextBox 21"/>
          <p:cNvSpPr txBox="1"/>
          <p:nvPr/>
        </p:nvSpPr>
        <p:spPr>
          <a:xfrm>
            <a:off x="1783080" y="489203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3" name="Rounded Rectangle 22"/>
          <p:cNvSpPr/>
          <p:nvPr/>
        </p:nvSpPr>
        <p:spPr>
          <a:xfrm>
            <a:off x="731520" y="534923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549554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5</a:t>
            </a:r>
          </a:p>
        </p:txBody>
      </p:sp>
      <p:sp>
        <p:nvSpPr>
          <p:cNvPr id="25" name="TextBox 24"/>
          <p:cNvSpPr txBox="1"/>
          <p:nvPr/>
        </p:nvSpPr>
        <p:spPr>
          <a:xfrm>
            <a:off x="1783080" y="5440679"/>
            <a:ext cx="4114800" cy="365760"/>
          </a:xfrm>
          <a:prstGeom prst="rect">
            <a:avLst/>
          </a:prstGeom>
          <a:noFill/>
        </p:spPr>
        <p:txBody>
          <a:bodyPr wrap="square" lIns="0" rIns="0" tIns="0" bIns="0">
            <a:spAutoFit/>
          </a:bodyPr>
          <a:lstStyle/>
          <a:p>
            <a:pPr algn="l"/>
            <a:r>
              <a:rPr sz="2000" b="1">
                <a:solidFill>
                  <a:srgbClr val="FFFFFF"/>
                </a:solidFill>
                <a:latin typeface="Calibri"/>
              </a:rPr>
              <a:t>Ali Salman</a:t>
            </a:r>
          </a:p>
        </p:txBody>
      </p:sp>
      <p:sp>
        <p:nvSpPr>
          <p:cNvPr id="26" name="TextBox 25"/>
          <p:cNvSpPr txBox="1"/>
          <p:nvPr/>
        </p:nvSpPr>
        <p:spPr>
          <a:xfrm>
            <a:off x="1783080" y="576071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02  ·  ACADEMIC INFO</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Department &amp; Supervisors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530352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148840"/>
            <a:ext cx="4572000" cy="320040"/>
          </a:xfrm>
          <a:prstGeom prst="rect">
            <a:avLst/>
          </a:prstGeom>
          <a:noFill/>
        </p:spPr>
        <p:txBody>
          <a:bodyPr wrap="square" lIns="0" rIns="0" tIns="0" bIns="0">
            <a:spAutoFit/>
          </a:bodyPr>
          <a:lstStyle/>
          <a:p>
            <a:pPr algn="l"/>
            <a:r>
              <a:rPr sz="1200" b="1">
                <a:solidFill>
                  <a:srgbClr val="EF4444"/>
                </a:solidFill>
                <a:latin typeface="Calibri"/>
              </a:rPr>
              <a:t>DEPARTMENT</a:t>
            </a:r>
          </a:p>
        </p:txBody>
      </p:sp>
      <p:sp>
        <p:nvSpPr>
          <p:cNvPr id="9" name="TextBox 8"/>
          <p:cNvSpPr txBox="1"/>
          <p:nvPr/>
        </p:nvSpPr>
        <p:spPr>
          <a:xfrm>
            <a:off x="960120" y="2468880"/>
            <a:ext cx="4846320" cy="457200"/>
          </a:xfrm>
          <a:prstGeom prst="rect">
            <a:avLst/>
          </a:prstGeom>
          <a:noFill/>
        </p:spPr>
        <p:txBody>
          <a:bodyPr wrap="square" lIns="0" rIns="0" tIns="0" bIns="0">
            <a:spAutoFit/>
          </a:bodyPr>
          <a:lstStyle/>
          <a:p>
            <a:pPr algn="l"/>
            <a:r>
              <a:rPr sz="2200" b="1">
                <a:solidFill>
                  <a:srgbClr val="FFFFFF"/>
                </a:solidFill>
                <a:latin typeface="Calibri"/>
              </a:rPr>
              <a:t>Information Technology</a:t>
            </a:r>
          </a:p>
        </p:txBody>
      </p:sp>
      <p:sp>
        <p:nvSpPr>
          <p:cNvPr id="10" name="TextBox 9"/>
          <p:cNvSpPr txBox="1"/>
          <p:nvPr/>
        </p:nvSpPr>
        <p:spPr>
          <a:xfrm>
            <a:off x="960120" y="3291840"/>
            <a:ext cx="4572000" cy="320040"/>
          </a:xfrm>
          <a:prstGeom prst="rect">
            <a:avLst/>
          </a:prstGeom>
          <a:noFill/>
        </p:spPr>
        <p:txBody>
          <a:bodyPr wrap="square" lIns="0" rIns="0" tIns="0" bIns="0">
            <a:spAutoFit/>
          </a:bodyPr>
          <a:lstStyle/>
          <a:p>
            <a:pPr algn="l"/>
            <a:r>
              <a:rPr sz="1200" b="1">
                <a:solidFill>
                  <a:srgbClr val="EF4444"/>
                </a:solidFill>
                <a:latin typeface="Calibri"/>
              </a:rPr>
              <a:t>SPECIALIZATION</a:t>
            </a:r>
          </a:p>
        </p:txBody>
      </p:sp>
      <p:sp>
        <p:nvSpPr>
          <p:cNvPr id="11" name="TextBox 10"/>
          <p:cNvSpPr txBox="1"/>
          <p:nvPr/>
        </p:nvSpPr>
        <p:spPr>
          <a:xfrm>
            <a:off x="960120" y="3611880"/>
            <a:ext cx="4846320" cy="457200"/>
          </a:xfrm>
          <a:prstGeom prst="rect">
            <a:avLst/>
          </a:prstGeom>
          <a:noFill/>
        </p:spPr>
        <p:txBody>
          <a:bodyPr wrap="square" lIns="0" rIns="0" tIns="0" bIns="0">
            <a:spAutoFit/>
          </a:bodyPr>
          <a:lstStyle/>
          <a:p>
            <a:pPr algn="l"/>
            <a:r>
              <a:rPr sz="2200" b="1">
                <a:solidFill>
                  <a:srgbClr val="FFFFFF"/>
                </a:solidFill>
                <a:latin typeface="Calibri"/>
              </a:rPr>
              <a:t>Cloud Computing</a:t>
            </a:r>
          </a:p>
        </p:txBody>
      </p:sp>
      <p:sp>
        <p:nvSpPr>
          <p:cNvPr id="12" name="TextBox 11"/>
          <p:cNvSpPr txBox="1"/>
          <p:nvPr/>
        </p:nvSpPr>
        <p:spPr>
          <a:xfrm>
            <a:off x="960120" y="4434840"/>
            <a:ext cx="4572000" cy="320040"/>
          </a:xfrm>
          <a:prstGeom prst="rect">
            <a:avLst/>
          </a:prstGeom>
          <a:noFill/>
        </p:spPr>
        <p:txBody>
          <a:bodyPr wrap="square" lIns="0" rIns="0" tIns="0" bIns="0">
            <a:spAutoFit/>
          </a:bodyPr>
          <a:lstStyle/>
          <a:p>
            <a:pPr algn="l"/>
            <a:r>
              <a:rPr sz="1200" b="1">
                <a:solidFill>
                  <a:srgbClr val="EF4444"/>
                </a:solidFill>
                <a:latin typeface="Calibri"/>
              </a:rPr>
              <a:t>CLASS</a:t>
            </a:r>
          </a:p>
        </p:txBody>
      </p:sp>
      <p:sp>
        <p:nvSpPr>
          <p:cNvPr id="13" name="TextBox 12"/>
          <p:cNvSpPr txBox="1"/>
          <p:nvPr/>
        </p:nvSpPr>
        <p:spPr>
          <a:xfrm>
            <a:off x="960120" y="4754880"/>
            <a:ext cx="4846320" cy="457200"/>
          </a:xfrm>
          <a:prstGeom prst="rect">
            <a:avLst/>
          </a:prstGeom>
          <a:noFill/>
        </p:spPr>
        <p:txBody>
          <a:bodyPr wrap="square" lIns="0" rIns="0" tIns="0" bIns="0">
            <a:spAutoFit/>
          </a:bodyPr>
          <a:lstStyle/>
          <a:p>
            <a:pPr algn="l"/>
            <a:r>
              <a:rPr sz="2200" b="1">
                <a:solidFill>
                  <a:srgbClr val="FFFFFF"/>
                </a:solidFill>
                <a:latin typeface="Calibri"/>
              </a:rPr>
              <a:t>12.CCP</a:t>
            </a:r>
          </a:p>
        </p:txBody>
      </p:sp>
      <p:sp>
        <p:nvSpPr>
          <p:cNvPr id="14" name="Rounded Rectangle 13"/>
          <p:cNvSpPr/>
          <p:nvPr/>
        </p:nvSpPr>
        <p:spPr>
          <a:xfrm>
            <a:off x="6217920" y="1920240"/>
            <a:ext cx="521208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148840"/>
            <a:ext cx="4846320" cy="365760"/>
          </a:xfrm>
          <a:prstGeom prst="rect">
            <a:avLst/>
          </a:prstGeom>
          <a:noFill/>
        </p:spPr>
        <p:txBody>
          <a:bodyPr wrap="square" lIns="0" rIns="0" tIns="0" bIns="0">
            <a:spAutoFit/>
          </a:bodyPr>
          <a:lstStyle/>
          <a:p>
            <a:pPr algn="l"/>
            <a:r>
              <a:rPr sz="1200" b="1">
                <a:solidFill>
                  <a:srgbClr val="EF4444"/>
                </a:solidFill>
                <a:latin typeface="Calibri"/>
              </a:rPr>
              <a:t>SUPERVISING TEACHERS</a:t>
            </a:r>
          </a:p>
        </p:txBody>
      </p:sp>
      <p:sp>
        <p:nvSpPr>
          <p:cNvPr id="16" name="Rectangle 15"/>
          <p:cNvSpPr/>
          <p:nvPr/>
        </p:nvSpPr>
        <p:spPr>
          <a:xfrm>
            <a:off x="6446520" y="286207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2788920"/>
            <a:ext cx="4572000" cy="502920"/>
          </a:xfrm>
          <a:prstGeom prst="rect">
            <a:avLst/>
          </a:prstGeom>
          <a:noFill/>
        </p:spPr>
        <p:txBody>
          <a:bodyPr wrap="square" lIns="0" rIns="0" tIns="0" bIns="0">
            <a:spAutoFit/>
          </a:bodyPr>
          <a:lstStyle/>
          <a:p>
            <a:pPr algn="l"/>
            <a:r>
              <a:rPr sz="2000" b="1">
                <a:solidFill>
                  <a:srgbClr val="FFFFFF"/>
                </a:solidFill>
                <a:latin typeface="Calibri"/>
              </a:rPr>
              <a:t>Mr. Khalid Maroof</a:t>
            </a:r>
          </a:p>
        </p:txBody>
      </p:sp>
      <p:sp>
        <p:nvSpPr>
          <p:cNvPr id="18" name="TextBox 17"/>
          <p:cNvSpPr txBox="1"/>
          <p:nvPr/>
        </p:nvSpPr>
        <p:spPr>
          <a:xfrm>
            <a:off x="6766560" y="320040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19" name="Rectangle 18"/>
          <p:cNvSpPr/>
          <p:nvPr/>
        </p:nvSpPr>
        <p:spPr>
          <a:xfrm>
            <a:off x="6446520" y="391363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840480"/>
            <a:ext cx="4572000" cy="502920"/>
          </a:xfrm>
          <a:prstGeom prst="rect">
            <a:avLst/>
          </a:prstGeom>
          <a:noFill/>
        </p:spPr>
        <p:txBody>
          <a:bodyPr wrap="square" lIns="0" rIns="0" tIns="0" bIns="0">
            <a:spAutoFit/>
          </a:bodyPr>
          <a:lstStyle/>
          <a:p>
            <a:pPr algn="l"/>
            <a:r>
              <a:rPr sz="2000" b="1">
                <a:solidFill>
                  <a:srgbClr val="FFFFFF"/>
                </a:solidFill>
                <a:latin typeface="Calibri"/>
              </a:rPr>
              <a:t>Mr. Abdullrahman Khaled</a:t>
            </a:r>
          </a:p>
        </p:txBody>
      </p:sp>
      <p:sp>
        <p:nvSpPr>
          <p:cNvPr id="21" name="TextBox 20"/>
          <p:cNvSpPr txBox="1"/>
          <p:nvPr/>
        </p:nvSpPr>
        <p:spPr>
          <a:xfrm>
            <a:off x="6766560" y="425196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2" name="Rectangle 21"/>
          <p:cNvSpPr/>
          <p:nvPr/>
        </p:nvSpPr>
        <p:spPr>
          <a:xfrm>
            <a:off x="6446520" y="496519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0" y="4892040"/>
            <a:ext cx="4572000" cy="502920"/>
          </a:xfrm>
          <a:prstGeom prst="rect">
            <a:avLst/>
          </a:prstGeom>
          <a:noFill/>
        </p:spPr>
        <p:txBody>
          <a:bodyPr wrap="square" lIns="0" rIns="0" tIns="0" bIns="0">
            <a:spAutoFit/>
          </a:bodyPr>
          <a:lstStyle/>
          <a:p>
            <a:pPr algn="l"/>
            <a:r>
              <a:rPr sz="2000" b="1">
                <a:solidFill>
                  <a:srgbClr val="FFFFFF"/>
                </a:solidFill>
                <a:latin typeface="Calibri"/>
              </a:rPr>
              <a:t>Dr. Raghu Dumpati</a:t>
            </a:r>
          </a:p>
        </p:txBody>
      </p:sp>
      <p:sp>
        <p:nvSpPr>
          <p:cNvPr id="24" name="TextBox 23"/>
          <p:cNvSpPr txBox="1"/>
          <p:nvPr/>
        </p:nvSpPr>
        <p:spPr>
          <a:xfrm>
            <a:off x="6766560" y="530352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5" name="TextBox 24"/>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6" name="TextBox 25"/>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03  ·  ABOUT THE PROJECT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Brief Description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10698480" cy="1371600"/>
          </a:xfrm>
          <a:prstGeom prst="rect">
            <a:avLst/>
          </a:prstGeom>
          <a:noFill/>
        </p:spPr>
        <p:txBody>
          <a:bodyPr wrap="square" lIns="0" rIns="0" tIns="0" bIns="0">
            <a:spAutoFit/>
          </a:bodyPr>
          <a:lstStyle/>
          <a:p>
            <a:pPr algn="l"/>
            <a:r>
              <a:rPr sz="1700" b="0">
                <a:solidFill>
                  <a:srgbClr val="E4E4E7"/>
                </a:solidFill>
                <a:latin typeface="Calibri"/>
              </a:rPr>
              <a:t>LAB is a full-stack web application that turns any device with a camera into a personal AI fitness coach. It uses TensorFlow.js and the MoveNet pose-detection model to track the user's body in real time, count repetitions, and grade exercise form — no wearables or sensors required.</a:t>
            </a:r>
          </a:p>
        </p:txBody>
      </p:sp>
      <p:sp>
        <p:nvSpPr>
          <p:cNvPr id="8" name="Rounded Rectangle 7"/>
          <p:cNvSpPr/>
          <p:nvPr/>
        </p:nvSpPr>
        <p:spPr>
          <a:xfrm>
            <a:off x="7315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931920"/>
            <a:ext cx="3108960" cy="457200"/>
          </a:xfrm>
          <a:prstGeom prst="rect">
            <a:avLst/>
          </a:prstGeom>
          <a:noFill/>
        </p:spPr>
        <p:txBody>
          <a:bodyPr wrap="square" lIns="0" rIns="0" tIns="0" bIns="0">
            <a:spAutoFit/>
          </a:bodyPr>
          <a:lstStyle/>
          <a:p>
            <a:pPr algn="l"/>
            <a:r>
              <a:rPr sz="1800" b="1">
                <a:solidFill>
                  <a:srgbClr val="FFFFFF"/>
                </a:solidFill>
                <a:latin typeface="Calibri"/>
              </a:rPr>
              <a:t>Workout Tracking</a:t>
            </a:r>
          </a:p>
        </p:txBody>
      </p:sp>
      <p:sp>
        <p:nvSpPr>
          <p:cNvPr id="11" name="TextBox 10"/>
          <p:cNvSpPr txBox="1"/>
          <p:nvPr/>
        </p:nvSpPr>
        <p:spPr>
          <a:xfrm>
            <a:off x="960120" y="4526280"/>
            <a:ext cx="3108960" cy="1280160"/>
          </a:xfrm>
          <a:prstGeom prst="rect">
            <a:avLst/>
          </a:prstGeom>
          <a:noFill/>
        </p:spPr>
        <p:txBody>
          <a:bodyPr wrap="square" lIns="0" rIns="0" tIns="0" bIns="0">
            <a:spAutoFit/>
          </a:bodyPr>
          <a:lstStyle/>
          <a:p>
            <a:pPr algn="l"/>
            <a:r>
              <a:rPr sz="1300" b="0">
                <a:solidFill>
                  <a:srgbClr val="A1A1AA"/>
                </a:solidFill>
                <a:latin typeface="Calibri"/>
              </a:rPr>
              <a:t>Push-ups, squats, plank with live rep counting and form grading.</a:t>
            </a:r>
          </a:p>
        </p:txBody>
      </p:sp>
      <p:sp>
        <p:nvSpPr>
          <p:cNvPr id="12" name="Rounded Rectangle 11"/>
          <p:cNvSpPr/>
          <p:nvPr/>
        </p:nvSpPr>
        <p:spPr>
          <a:xfrm>
            <a:off x="43891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31920"/>
            <a:ext cx="3108960" cy="457200"/>
          </a:xfrm>
          <a:prstGeom prst="rect">
            <a:avLst/>
          </a:prstGeom>
          <a:noFill/>
        </p:spPr>
        <p:txBody>
          <a:bodyPr wrap="square" lIns="0" rIns="0" tIns="0" bIns="0">
            <a:spAutoFit/>
          </a:bodyPr>
          <a:lstStyle/>
          <a:p>
            <a:pPr algn="l"/>
            <a:r>
              <a:rPr sz="1800" b="1">
                <a:solidFill>
                  <a:srgbClr val="FFFFFF"/>
                </a:solidFill>
                <a:latin typeface="Calibri"/>
              </a:rPr>
              <a:t>Neon Run Game</a:t>
            </a:r>
          </a:p>
        </p:txBody>
      </p:sp>
      <p:sp>
        <p:nvSpPr>
          <p:cNvPr id="15" name="TextBox 14"/>
          <p:cNvSpPr txBox="1"/>
          <p:nvPr/>
        </p:nvSpPr>
        <p:spPr>
          <a:xfrm>
            <a:off x="4617720" y="4526280"/>
            <a:ext cx="3108960" cy="1280160"/>
          </a:xfrm>
          <a:prstGeom prst="rect">
            <a:avLst/>
          </a:prstGeom>
          <a:noFill/>
        </p:spPr>
        <p:txBody>
          <a:bodyPr wrap="square" lIns="0" rIns="0" tIns="0" bIns="0">
            <a:spAutoFit/>
          </a:bodyPr>
          <a:lstStyle/>
          <a:p>
            <a:pPr algn="l"/>
            <a:r>
              <a:rPr sz="1300" b="0">
                <a:solidFill>
                  <a:srgbClr val="A1A1AA"/>
                </a:solidFill>
                <a:latin typeface="Calibri"/>
              </a:rPr>
              <a:t>Side-scrolling game controlled by jogging, jumping, and push-ups.</a:t>
            </a:r>
          </a:p>
        </p:txBody>
      </p:sp>
      <p:sp>
        <p:nvSpPr>
          <p:cNvPr id="16" name="Rounded Rectangle 15"/>
          <p:cNvSpPr/>
          <p:nvPr/>
        </p:nvSpPr>
        <p:spPr>
          <a:xfrm>
            <a:off x="80467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31920"/>
            <a:ext cx="3108960" cy="457200"/>
          </a:xfrm>
          <a:prstGeom prst="rect">
            <a:avLst/>
          </a:prstGeom>
          <a:noFill/>
        </p:spPr>
        <p:txBody>
          <a:bodyPr wrap="square" lIns="0" rIns="0" tIns="0" bIns="0">
            <a:spAutoFit/>
          </a:bodyPr>
          <a:lstStyle/>
          <a:p>
            <a:pPr algn="l"/>
            <a:r>
              <a:rPr sz="1800" b="1">
                <a:solidFill>
                  <a:srgbClr val="FFFFFF"/>
                </a:solidFill>
                <a:latin typeface="Calibri"/>
              </a:rPr>
              <a:t>Boxing Mode</a:t>
            </a:r>
          </a:p>
        </p:txBody>
      </p:sp>
      <p:sp>
        <p:nvSpPr>
          <p:cNvPr id="19" name="TextBox 18"/>
          <p:cNvSpPr txBox="1"/>
          <p:nvPr/>
        </p:nvSpPr>
        <p:spPr>
          <a:xfrm>
            <a:off x="8275320" y="4526280"/>
            <a:ext cx="3108960" cy="1280160"/>
          </a:xfrm>
          <a:prstGeom prst="rect">
            <a:avLst/>
          </a:prstGeom>
          <a:noFill/>
        </p:spPr>
        <p:txBody>
          <a:bodyPr wrap="square" lIns="0" rIns="0" tIns="0" bIns="0">
            <a:spAutoFit/>
          </a:bodyPr>
          <a:lstStyle/>
          <a:p>
            <a:pPr algn="l"/>
            <a:r>
              <a:rPr sz="1300" b="0">
                <a:solidFill>
                  <a:srgbClr val="A1A1AA"/>
                </a:solidFill>
                <a:latin typeface="Calibri"/>
              </a:rPr>
              <a:t>Shadow-boxing trainer with punches, dodges, and blocks detected by camera.</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04  ·  WHY WE BUILT IT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Purpose &amp; Target Beneficiaries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5486400" cy="365760"/>
          </a:xfrm>
          <a:prstGeom prst="rect">
            <a:avLst/>
          </a:prstGeom>
          <a:noFill/>
        </p:spPr>
        <p:txBody>
          <a:bodyPr wrap="square" lIns="0" rIns="0" tIns="0" bIns="0">
            <a:spAutoFit/>
          </a:bodyPr>
          <a:lstStyle/>
          <a:p>
            <a:pPr algn="l"/>
            <a:r>
              <a:rPr sz="1300" b="1">
                <a:solidFill>
                  <a:srgbClr val="EF4444"/>
                </a:solidFill>
                <a:latin typeface="Calibri"/>
              </a:rPr>
              <a:t>PURPOSE</a:t>
            </a:r>
          </a:p>
        </p:txBody>
      </p:sp>
      <p:sp>
        <p:nvSpPr>
          <p:cNvPr id="8" name="TextBox 7"/>
          <p:cNvSpPr txBox="1"/>
          <p:nvPr/>
        </p:nvSpPr>
        <p:spPr>
          <a:xfrm>
            <a:off x="731520" y="2286000"/>
            <a:ext cx="10698480" cy="2286000"/>
          </a:xfrm>
          <a:prstGeom prst="rect">
            <a:avLst/>
          </a:prstGeom>
          <a:noFill/>
        </p:spPr>
        <p:txBody>
          <a:bodyPr wrap="square" lIns="0" tIns="0">
            <a:spAutoFit/>
          </a:bodyPr>
          <a:lstStyle/>
          <a:p>
            <a:pPr algn="l">
              <a:lnSpc>
                <a:spcPct val="125000"/>
              </a:lnSpc>
            </a:pPr>
            <a:r>
              <a:rPr sz="1500" b="1">
                <a:solidFill>
                  <a:srgbClr val="DC2626"/>
                </a:solidFill>
                <a:latin typeface="Calibri"/>
              </a:rPr>
              <a:t>▸  </a:t>
            </a:r>
            <a:r>
              <a:rPr sz="1500">
                <a:solidFill>
                  <a:srgbClr val="FFFFFF"/>
                </a:solidFill>
                <a:latin typeface="Calibri"/>
              </a:rPr>
              <a:t>Make professional fitness coaching accessible to everyone, for free.</a:t>
            </a:r>
          </a:p>
          <a:p>
            <a:pPr algn="l">
              <a:lnSpc>
                <a:spcPct val="125000"/>
              </a:lnSpc>
            </a:pPr>
            <a:r>
              <a:rPr sz="1500" b="1">
                <a:solidFill>
                  <a:srgbClr val="DC2626"/>
                </a:solidFill>
                <a:latin typeface="Calibri"/>
              </a:rPr>
              <a:t>▸  </a:t>
            </a:r>
            <a:r>
              <a:rPr sz="1500">
                <a:solidFill>
                  <a:srgbClr val="FFFFFF"/>
                </a:solidFill>
                <a:latin typeface="Calibri"/>
              </a:rPr>
              <a:t>Replace expensive wearables and personal trainers with a phone or laptop camera.</a:t>
            </a:r>
          </a:p>
          <a:p>
            <a:pPr algn="l">
              <a:lnSpc>
                <a:spcPct val="125000"/>
              </a:lnSpc>
            </a:pPr>
            <a:r>
              <a:rPr sz="1500" b="1">
                <a:solidFill>
                  <a:srgbClr val="DC2626"/>
                </a:solidFill>
                <a:latin typeface="Calibri"/>
              </a:rPr>
              <a:t>▸  </a:t>
            </a:r>
            <a:r>
              <a:rPr sz="1500">
                <a:solidFill>
                  <a:srgbClr val="FFFFFF"/>
                </a:solidFill>
                <a:latin typeface="Calibri"/>
              </a:rPr>
              <a:t>Use AI to give real-time feedback on form, posture, and rep count.</a:t>
            </a:r>
          </a:p>
          <a:p>
            <a:pPr algn="l">
              <a:lnSpc>
                <a:spcPct val="125000"/>
              </a:lnSpc>
            </a:pPr>
            <a:r>
              <a:rPr sz="1500" b="1">
                <a:solidFill>
                  <a:srgbClr val="DC2626"/>
                </a:solidFill>
                <a:latin typeface="Calibri"/>
              </a:rPr>
              <a:t>▸  </a:t>
            </a:r>
            <a:r>
              <a:rPr sz="1500">
                <a:solidFill>
                  <a:srgbClr val="FFFFFF"/>
                </a:solidFill>
                <a:latin typeface="Calibri"/>
              </a:rPr>
              <a:t>Make exercise fun through gamification (Neon Run, Boxing Mode).</a:t>
            </a:r>
          </a:p>
        </p:txBody>
      </p:sp>
      <p:sp>
        <p:nvSpPr>
          <p:cNvPr id="9" name="TextBox 8"/>
          <p:cNvSpPr txBox="1"/>
          <p:nvPr/>
        </p:nvSpPr>
        <p:spPr>
          <a:xfrm>
            <a:off x="731520" y="4526280"/>
            <a:ext cx="5486400" cy="365760"/>
          </a:xfrm>
          <a:prstGeom prst="rect">
            <a:avLst/>
          </a:prstGeom>
          <a:noFill/>
        </p:spPr>
        <p:txBody>
          <a:bodyPr wrap="square" lIns="0" rIns="0" tIns="0" bIns="0">
            <a:spAutoFit/>
          </a:bodyPr>
          <a:lstStyle/>
          <a:p>
            <a:pPr algn="l"/>
            <a:r>
              <a:rPr sz="1300" b="1">
                <a:solidFill>
                  <a:srgbClr val="EF4444"/>
                </a:solidFill>
                <a:latin typeface="Calibri"/>
              </a:rPr>
              <a:t>TARGET BENEFICIARIES</a:t>
            </a:r>
          </a:p>
        </p:txBody>
      </p:sp>
      <p:sp>
        <p:nvSpPr>
          <p:cNvPr id="10" name="Rounded Rectangle 9"/>
          <p:cNvSpPr/>
          <p:nvPr/>
        </p:nvSpPr>
        <p:spPr>
          <a:xfrm>
            <a:off x="731520"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66360"/>
            <a:ext cx="2240280" cy="457200"/>
          </a:xfrm>
          <a:prstGeom prst="rect">
            <a:avLst/>
          </a:prstGeom>
          <a:noFill/>
        </p:spPr>
        <p:txBody>
          <a:bodyPr wrap="square" lIns="0" rIns="0" tIns="0" bIns="0">
            <a:spAutoFit/>
          </a:bodyPr>
          <a:lstStyle/>
          <a:p>
            <a:pPr algn="ctr"/>
            <a:r>
              <a:rPr sz="1600" b="1">
                <a:solidFill>
                  <a:srgbClr val="FFFFFF"/>
                </a:solidFill>
                <a:latin typeface="Calibri"/>
              </a:rPr>
              <a:t>Home Users</a:t>
            </a:r>
          </a:p>
        </p:txBody>
      </p:sp>
      <p:sp>
        <p:nvSpPr>
          <p:cNvPr id="12" name="TextBox 11"/>
          <p:cNvSpPr txBox="1"/>
          <p:nvPr/>
        </p:nvSpPr>
        <p:spPr>
          <a:xfrm>
            <a:off x="914400" y="5715000"/>
            <a:ext cx="2240280" cy="457200"/>
          </a:xfrm>
          <a:prstGeom prst="rect">
            <a:avLst/>
          </a:prstGeom>
          <a:noFill/>
        </p:spPr>
        <p:txBody>
          <a:bodyPr wrap="square" lIns="0" rIns="0" tIns="0" bIns="0">
            <a:spAutoFit/>
          </a:bodyPr>
          <a:lstStyle/>
          <a:p>
            <a:pPr algn="ctr"/>
            <a:r>
              <a:rPr sz="1200" b="0">
                <a:solidFill>
                  <a:srgbClr val="A1A1AA"/>
                </a:solidFill>
                <a:latin typeface="Calibri"/>
              </a:rPr>
              <a:t>People who can't afford gyms</a:t>
            </a:r>
          </a:p>
        </p:txBody>
      </p:sp>
      <p:sp>
        <p:nvSpPr>
          <p:cNvPr id="13" name="Rounded Rectangle 12"/>
          <p:cNvSpPr/>
          <p:nvPr/>
        </p:nvSpPr>
        <p:spPr>
          <a:xfrm>
            <a:off x="3401568"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66360"/>
            <a:ext cx="2240280" cy="457200"/>
          </a:xfrm>
          <a:prstGeom prst="rect">
            <a:avLst/>
          </a:prstGeom>
          <a:noFill/>
        </p:spPr>
        <p:txBody>
          <a:bodyPr wrap="square" lIns="0" rIns="0" tIns="0" bIns="0">
            <a:spAutoFit/>
          </a:bodyPr>
          <a:lstStyle/>
          <a:p>
            <a:pPr algn="ctr"/>
            <a:r>
              <a:rPr sz="1600" b="1">
                <a:solidFill>
                  <a:srgbClr val="FFFFFF"/>
                </a:solidFill>
                <a:latin typeface="Calibri"/>
              </a:rPr>
              <a:t>Students</a:t>
            </a:r>
          </a:p>
        </p:txBody>
      </p:sp>
      <p:sp>
        <p:nvSpPr>
          <p:cNvPr id="15" name="TextBox 14"/>
          <p:cNvSpPr txBox="1"/>
          <p:nvPr/>
        </p:nvSpPr>
        <p:spPr>
          <a:xfrm>
            <a:off x="3584448" y="5715000"/>
            <a:ext cx="2240280" cy="457200"/>
          </a:xfrm>
          <a:prstGeom prst="rect">
            <a:avLst/>
          </a:prstGeom>
          <a:noFill/>
        </p:spPr>
        <p:txBody>
          <a:bodyPr wrap="square" lIns="0" rIns="0" tIns="0" bIns="0">
            <a:spAutoFit/>
          </a:bodyPr>
          <a:lstStyle/>
          <a:p>
            <a:pPr algn="ctr"/>
            <a:r>
              <a:rPr sz="1200" b="0">
                <a:solidFill>
                  <a:srgbClr val="A1A1AA"/>
                </a:solidFill>
                <a:latin typeface="Calibri"/>
              </a:rPr>
              <a:t>Quick fitness breaks</a:t>
            </a:r>
          </a:p>
        </p:txBody>
      </p:sp>
      <p:sp>
        <p:nvSpPr>
          <p:cNvPr id="16" name="Rounded Rectangle 15"/>
          <p:cNvSpPr/>
          <p:nvPr/>
        </p:nvSpPr>
        <p:spPr>
          <a:xfrm>
            <a:off x="6071616"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4496" y="5166360"/>
            <a:ext cx="2240280" cy="457200"/>
          </a:xfrm>
          <a:prstGeom prst="rect">
            <a:avLst/>
          </a:prstGeom>
          <a:noFill/>
        </p:spPr>
        <p:txBody>
          <a:bodyPr wrap="square" lIns="0" rIns="0" tIns="0" bIns="0">
            <a:spAutoFit/>
          </a:bodyPr>
          <a:lstStyle/>
          <a:p>
            <a:pPr algn="ctr"/>
            <a:r>
              <a:rPr sz="1600" b="1">
                <a:solidFill>
                  <a:srgbClr val="FFFFFF"/>
                </a:solidFill>
                <a:latin typeface="Calibri"/>
              </a:rPr>
              <a:t>Beginners</a:t>
            </a:r>
          </a:p>
        </p:txBody>
      </p:sp>
      <p:sp>
        <p:nvSpPr>
          <p:cNvPr id="18" name="TextBox 17"/>
          <p:cNvSpPr txBox="1"/>
          <p:nvPr/>
        </p:nvSpPr>
        <p:spPr>
          <a:xfrm>
            <a:off x="6254496" y="5715000"/>
            <a:ext cx="2240280" cy="457200"/>
          </a:xfrm>
          <a:prstGeom prst="rect">
            <a:avLst/>
          </a:prstGeom>
          <a:noFill/>
        </p:spPr>
        <p:txBody>
          <a:bodyPr wrap="square" lIns="0" rIns="0" tIns="0" bIns="0">
            <a:spAutoFit/>
          </a:bodyPr>
          <a:lstStyle/>
          <a:p>
            <a:pPr algn="ctr"/>
            <a:r>
              <a:rPr sz="1200" b="0">
                <a:solidFill>
                  <a:srgbClr val="A1A1AA"/>
                </a:solidFill>
                <a:latin typeface="Calibri"/>
              </a:rPr>
              <a:t>Need form guidance</a:t>
            </a:r>
          </a:p>
        </p:txBody>
      </p:sp>
      <p:sp>
        <p:nvSpPr>
          <p:cNvPr id="19" name="Rounded Rectangle 18"/>
          <p:cNvSpPr/>
          <p:nvPr/>
        </p:nvSpPr>
        <p:spPr>
          <a:xfrm>
            <a:off x="8741664"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24544" y="5166360"/>
            <a:ext cx="2240280" cy="457200"/>
          </a:xfrm>
          <a:prstGeom prst="rect">
            <a:avLst/>
          </a:prstGeom>
          <a:noFill/>
        </p:spPr>
        <p:txBody>
          <a:bodyPr wrap="square" lIns="0" rIns="0" tIns="0" bIns="0">
            <a:spAutoFit/>
          </a:bodyPr>
          <a:lstStyle/>
          <a:p>
            <a:pPr algn="ctr"/>
            <a:r>
              <a:rPr sz="1600" b="1">
                <a:solidFill>
                  <a:srgbClr val="FFFFFF"/>
                </a:solidFill>
                <a:latin typeface="Calibri"/>
              </a:rPr>
              <a:t>Gamers</a:t>
            </a:r>
          </a:p>
        </p:txBody>
      </p:sp>
      <p:sp>
        <p:nvSpPr>
          <p:cNvPr id="21" name="TextBox 20"/>
          <p:cNvSpPr txBox="1"/>
          <p:nvPr/>
        </p:nvSpPr>
        <p:spPr>
          <a:xfrm>
            <a:off x="8924544" y="5715000"/>
            <a:ext cx="2240280" cy="457200"/>
          </a:xfrm>
          <a:prstGeom prst="rect">
            <a:avLst/>
          </a:prstGeom>
          <a:noFill/>
        </p:spPr>
        <p:txBody>
          <a:bodyPr wrap="square" lIns="0" rIns="0" tIns="0" bIns="0">
            <a:spAutoFit/>
          </a:bodyPr>
          <a:lstStyle/>
          <a:p>
            <a:pPr algn="ctr"/>
            <a:r>
              <a:rPr sz="1200" b="0">
                <a:solidFill>
                  <a:srgbClr val="A1A1AA"/>
                </a:solidFill>
                <a:latin typeface="Calibri"/>
              </a:rPr>
              <a:t>Active gameplay</a:t>
            </a:r>
          </a:p>
        </p:txBody>
      </p:sp>
      <p:sp>
        <p:nvSpPr>
          <p:cNvPr id="22" name="TextBox 21"/>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3" name="TextBox 22"/>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05  ·  STATUS</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Current Development Stage</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91440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64592"/>
          <a:lstStyle/>
          <a:p>
            <a:pPr algn="ctr"/>
            <a:r>
              <a:rPr sz="2800" b="1">
                <a:solidFill>
                  <a:srgbClr val="FFFFFF"/>
                </a:solidFill>
              </a:rPr>
              <a:t>✓  FULLY DEPLOYED &amp; LIVE IN PRODUCTION</a:t>
            </a:r>
          </a:p>
        </p:txBody>
      </p:sp>
      <p:sp>
        <p:nvSpPr>
          <p:cNvPr id="8" name="TextBox 7"/>
          <p:cNvSpPr txBox="1"/>
          <p:nvPr/>
        </p:nvSpPr>
        <p:spPr>
          <a:xfrm>
            <a:off x="731520" y="3063240"/>
            <a:ext cx="5486400" cy="365760"/>
          </a:xfrm>
          <a:prstGeom prst="rect">
            <a:avLst/>
          </a:prstGeom>
          <a:noFill/>
        </p:spPr>
        <p:txBody>
          <a:bodyPr wrap="square" lIns="0" rIns="0" tIns="0" bIns="0">
            <a:spAutoFit/>
          </a:bodyPr>
          <a:lstStyle/>
          <a:p>
            <a:pPr algn="l"/>
            <a:r>
              <a:rPr sz="1300" b="1">
                <a:solidFill>
                  <a:srgbClr val="EF4444"/>
                </a:solidFill>
                <a:latin typeface="Calibri"/>
              </a:rPr>
              <a:t>WHAT'S COMPLETE</a:t>
            </a:r>
          </a:p>
        </p:txBody>
      </p:sp>
      <p:sp>
        <p:nvSpPr>
          <p:cNvPr id="9" name="TextBox 8"/>
          <p:cNvSpPr txBox="1"/>
          <p:nvPr/>
        </p:nvSpPr>
        <p:spPr>
          <a:xfrm>
            <a:off x="731520" y="3474720"/>
            <a:ext cx="10698480" cy="2926080"/>
          </a:xfrm>
          <a:prstGeom prst="rect">
            <a:avLst/>
          </a:prstGeom>
          <a:noFill/>
        </p:spPr>
        <p:txBody>
          <a:bodyPr wrap="square" lIns="0" tIns="0">
            <a:spAutoFit/>
          </a:bodyPr>
          <a:lstStyle/>
          <a:p>
            <a:pPr algn="l">
              <a:lnSpc>
                <a:spcPct val="115000"/>
              </a:lnSpc>
            </a:pPr>
            <a:r>
              <a:rPr sz="1400" b="1">
                <a:solidFill>
                  <a:srgbClr val="DC2626"/>
                </a:solidFill>
                <a:latin typeface="Calibri"/>
              </a:rPr>
              <a:t>▸  </a:t>
            </a:r>
            <a:r>
              <a:rPr sz="1400">
                <a:solidFill>
                  <a:srgbClr val="FFFFFF"/>
                </a:solidFill>
                <a:latin typeface="Calibri"/>
              </a:rPr>
              <a:t>Full React + TypeScript frontend with dark fitness theme</a:t>
            </a:r>
          </a:p>
          <a:p>
            <a:pPr algn="l">
              <a:lnSpc>
                <a:spcPct val="115000"/>
              </a:lnSpc>
            </a:pPr>
            <a:r>
              <a:rPr sz="1400" b="1">
                <a:solidFill>
                  <a:srgbClr val="DC2626"/>
                </a:solidFill>
                <a:latin typeface="Calibri"/>
              </a:rPr>
              <a:t>▸  </a:t>
            </a:r>
            <a:r>
              <a:rPr sz="1400">
                <a:solidFill>
                  <a:srgbClr val="FFFFFF"/>
                </a:solidFill>
                <a:latin typeface="Calibri"/>
              </a:rPr>
              <a:t>Node.js + Express REST API backend with type-safe contracts</a:t>
            </a:r>
          </a:p>
          <a:p>
            <a:pPr algn="l">
              <a:lnSpc>
                <a:spcPct val="115000"/>
              </a:lnSpc>
            </a:pPr>
            <a:r>
              <a:rPr sz="1400" b="1">
                <a:solidFill>
                  <a:srgbClr val="DC2626"/>
                </a:solidFill>
                <a:latin typeface="Calibri"/>
              </a:rPr>
              <a:t>▸  </a:t>
            </a:r>
            <a:r>
              <a:rPr sz="1400">
                <a:solidFill>
                  <a:srgbClr val="FFFFFF"/>
                </a:solidFill>
                <a:latin typeface="Calibri"/>
              </a:rPr>
              <a:t>PostgreSQL database (Neon) with Drizzle ORM</a:t>
            </a:r>
          </a:p>
          <a:p>
            <a:pPr algn="l">
              <a:lnSpc>
                <a:spcPct val="115000"/>
              </a:lnSpc>
            </a:pPr>
            <a:r>
              <a:rPr sz="1400" b="1">
                <a:solidFill>
                  <a:srgbClr val="DC2626"/>
                </a:solidFill>
                <a:latin typeface="Calibri"/>
              </a:rPr>
              <a:t>▸  </a:t>
            </a:r>
            <a:r>
              <a:rPr sz="1400">
                <a:solidFill>
                  <a:srgbClr val="FFFFFF"/>
                </a:solidFill>
                <a:latin typeface="Calibri"/>
              </a:rPr>
              <a:t>Google OAuth, Microsoft OAuth, and Email/Password login (JWT-based)</a:t>
            </a:r>
          </a:p>
          <a:p>
            <a:pPr algn="l">
              <a:lnSpc>
                <a:spcPct val="115000"/>
              </a:lnSpc>
            </a:pPr>
            <a:r>
              <a:rPr sz="1400" b="1">
                <a:solidFill>
                  <a:srgbClr val="DC2626"/>
                </a:solidFill>
                <a:latin typeface="Calibri"/>
              </a:rPr>
              <a:t>▸  </a:t>
            </a:r>
            <a:r>
              <a:rPr sz="1400">
                <a:solidFill>
                  <a:srgbClr val="FFFFFF"/>
                </a:solidFill>
                <a:latin typeface="Calibri"/>
              </a:rPr>
              <a:t>Real-time pose detection for push-ups, squats, and plank</a:t>
            </a:r>
          </a:p>
          <a:p>
            <a:pPr algn="l">
              <a:lnSpc>
                <a:spcPct val="115000"/>
              </a:lnSpc>
            </a:pPr>
            <a:r>
              <a:rPr sz="1400" b="1">
                <a:solidFill>
                  <a:srgbClr val="DC2626"/>
                </a:solidFill>
                <a:latin typeface="Calibri"/>
              </a:rPr>
              <a:t>▸  </a:t>
            </a:r>
            <a:r>
              <a:rPr sz="1400">
                <a:solidFill>
                  <a:srgbClr val="FFFFFF"/>
                </a:solidFill>
                <a:latin typeface="Calibri"/>
              </a:rPr>
              <a:t>Neon Run game with 5 unlockable stages and 3 enemy types</a:t>
            </a:r>
          </a:p>
          <a:p>
            <a:pPr algn="l">
              <a:lnSpc>
                <a:spcPct val="115000"/>
              </a:lnSpc>
            </a:pPr>
            <a:r>
              <a:rPr sz="1400" b="1">
                <a:solidFill>
                  <a:srgbClr val="DC2626"/>
                </a:solidFill>
                <a:latin typeface="Calibri"/>
              </a:rPr>
              <a:t>▸  </a:t>
            </a:r>
            <a:r>
              <a:rPr sz="1400">
                <a:solidFill>
                  <a:srgbClr val="FFFFFF"/>
                </a:solidFill>
                <a:latin typeface="Calibri"/>
              </a:rPr>
              <a:t>Boxing Mode with rounds, voice commands, and scoring</a:t>
            </a:r>
          </a:p>
          <a:p>
            <a:pPr algn="l">
              <a:lnSpc>
                <a:spcPct val="115000"/>
              </a:lnSpc>
            </a:pPr>
            <a:r>
              <a:rPr sz="1400" b="1">
                <a:solidFill>
                  <a:srgbClr val="DC2626"/>
                </a:solidFill>
                <a:latin typeface="Calibri"/>
              </a:rPr>
              <a:t>▸  </a:t>
            </a:r>
            <a:r>
              <a:rPr sz="1400">
                <a:solidFill>
                  <a:srgbClr val="FFFFFF"/>
                </a:solidFill>
                <a:latin typeface="Calibri"/>
              </a:rPr>
              <a:t>Admin panel with user management, audit logs, and search</a:t>
            </a:r>
          </a:p>
          <a:p>
            <a:pPr algn="l">
              <a:lnSpc>
                <a:spcPct val="115000"/>
              </a:lnSpc>
            </a:pPr>
            <a:r>
              <a:rPr sz="1400" b="1">
                <a:solidFill>
                  <a:srgbClr val="DC2626"/>
                </a:solidFill>
                <a:latin typeface="Calibri"/>
              </a:rPr>
              <a:t>▸  </a:t>
            </a:r>
            <a:r>
              <a:rPr sz="1400">
                <a:solidFill>
                  <a:srgbClr val="FFFFFF"/>
                </a:solidFill>
                <a:latin typeface="Calibri"/>
              </a:rPr>
              <a:t>Production deployment: Render (backend) + AWS Amplify (frontend)</a:t>
            </a:r>
          </a:p>
        </p:txBody>
      </p:sp>
      <p:sp>
        <p:nvSpPr>
          <p:cNvPr id="10" name="TextBox 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11" name="TextBox 1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06  ·  WHAT WE LEARNED</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Challenges Faced During Development</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745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965959"/>
            <a:ext cx="10332720" cy="365760"/>
          </a:xfrm>
          <a:prstGeom prst="rect">
            <a:avLst/>
          </a:prstGeom>
          <a:noFill/>
        </p:spPr>
        <p:txBody>
          <a:bodyPr wrap="square" lIns="0" rIns="0" tIns="0" bIns="0">
            <a:spAutoFit/>
          </a:bodyPr>
          <a:lstStyle/>
          <a:p>
            <a:pPr algn="l"/>
            <a:r>
              <a:rPr sz="1400" b="1">
                <a:solidFill>
                  <a:srgbClr val="FFFFFF"/>
                </a:solidFill>
                <a:latin typeface="Calibri"/>
              </a:rPr>
              <a:t>Cross-site cookies blocked on iOS Safari</a:t>
            </a:r>
          </a:p>
        </p:txBody>
      </p:sp>
      <p:sp>
        <p:nvSpPr>
          <p:cNvPr id="10" name="TextBox 9"/>
          <p:cNvSpPr txBox="1"/>
          <p:nvPr/>
        </p:nvSpPr>
        <p:spPr>
          <a:xfrm>
            <a:off x="960120" y="2285999"/>
            <a:ext cx="10332720" cy="457200"/>
          </a:xfrm>
          <a:prstGeom prst="rect">
            <a:avLst/>
          </a:prstGeom>
          <a:noFill/>
        </p:spPr>
        <p:txBody>
          <a:bodyPr wrap="square" lIns="0" rIns="0" tIns="0" bIns="0">
            <a:spAutoFit/>
          </a:bodyPr>
          <a:lstStyle/>
          <a:p>
            <a:pPr algn="l"/>
            <a:r>
              <a:rPr sz="1100" b="0">
                <a:solidFill>
                  <a:srgbClr val="A1A1AA"/>
                </a:solidFill>
                <a:latin typeface="Calibri"/>
              </a:rPr>
              <a:t>Frontend on Amplify and backend on Render are different domains. Safari blocked our session cookies. We solved it by switching authentication to JWT tokens stored in localStorage and sent as Authorization headers.</a:t>
            </a:r>
          </a:p>
        </p:txBody>
      </p:sp>
      <p:sp>
        <p:nvSpPr>
          <p:cNvPr id="11" name="Rounded Rectangle 10"/>
          <p:cNvSpPr/>
          <p:nvPr/>
        </p:nvSpPr>
        <p:spPr>
          <a:xfrm>
            <a:off x="731520" y="27889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889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880359"/>
            <a:ext cx="10332720" cy="365760"/>
          </a:xfrm>
          <a:prstGeom prst="rect">
            <a:avLst/>
          </a:prstGeom>
          <a:noFill/>
        </p:spPr>
        <p:txBody>
          <a:bodyPr wrap="square" lIns="0" rIns="0" tIns="0" bIns="0">
            <a:spAutoFit/>
          </a:bodyPr>
          <a:lstStyle/>
          <a:p>
            <a:pPr algn="l"/>
            <a:r>
              <a:rPr sz="1400" b="1">
                <a:solidFill>
                  <a:srgbClr val="FFFFFF"/>
                </a:solidFill>
                <a:latin typeface="Calibri"/>
              </a:rPr>
              <a:t>Pose detection accuracy &amp; calibration</a:t>
            </a:r>
          </a:p>
        </p:txBody>
      </p:sp>
      <p:sp>
        <p:nvSpPr>
          <p:cNvPr id="14" name="TextBox 13"/>
          <p:cNvSpPr txBox="1"/>
          <p:nvPr/>
        </p:nvSpPr>
        <p:spPr>
          <a:xfrm>
            <a:off x="960120" y="3200399"/>
            <a:ext cx="10332720" cy="457200"/>
          </a:xfrm>
          <a:prstGeom prst="rect">
            <a:avLst/>
          </a:prstGeom>
          <a:noFill/>
        </p:spPr>
        <p:txBody>
          <a:bodyPr wrap="square" lIns="0" rIns="0" tIns="0" bIns="0">
            <a:spAutoFit/>
          </a:bodyPr>
          <a:lstStyle/>
          <a:p>
            <a:pPr algn="l"/>
            <a:r>
              <a:rPr sz="1100" b="0">
                <a:solidFill>
                  <a:srgbClr val="A1A1AA"/>
                </a:solidFill>
                <a:latin typeface="Calibri"/>
              </a:rPr>
              <a:t>Tuning the MoveNet model thresholds for push-up depth, squat angles, and plank alignment took many iterations to feel natural across different body types and camera angles.</a:t>
            </a:r>
          </a:p>
        </p:txBody>
      </p:sp>
      <p:sp>
        <p:nvSpPr>
          <p:cNvPr id="15" name="Rounded Rectangle 14"/>
          <p:cNvSpPr/>
          <p:nvPr/>
        </p:nvSpPr>
        <p:spPr>
          <a:xfrm>
            <a:off x="731520" y="37033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7033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794759"/>
            <a:ext cx="10332720" cy="365760"/>
          </a:xfrm>
          <a:prstGeom prst="rect">
            <a:avLst/>
          </a:prstGeom>
          <a:noFill/>
        </p:spPr>
        <p:txBody>
          <a:bodyPr wrap="square" lIns="0" rIns="0" tIns="0" bIns="0">
            <a:spAutoFit/>
          </a:bodyPr>
          <a:lstStyle/>
          <a:p>
            <a:pPr algn="l"/>
            <a:r>
              <a:rPr sz="1400" b="1">
                <a:solidFill>
                  <a:srgbClr val="FFFFFF"/>
                </a:solidFill>
                <a:latin typeface="Calibri"/>
              </a:rPr>
              <a:t>Cloud cold starts</a:t>
            </a:r>
          </a:p>
        </p:txBody>
      </p:sp>
      <p:sp>
        <p:nvSpPr>
          <p:cNvPr id="18" name="TextBox 17"/>
          <p:cNvSpPr txBox="1"/>
          <p:nvPr/>
        </p:nvSpPr>
        <p:spPr>
          <a:xfrm>
            <a:off x="960120" y="4114799"/>
            <a:ext cx="10332720" cy="457200"/>
          </a:xfrm>
          <a:prstGeom prst="rect">
            <a:avLst/>
          </a:prstGeom>
          <a:noFill/>
        </p:spPr>
        <p:txBody>
          <a:bodyPr wrap="square" lIns="0" rIns="0" tIns="0" bIns="0">
            <a:spAutoFit/>
          </a:bodyPr>
          <a:lstStyle/>
          <a:p>
            <a:pPr algn="l"/>
            <a:r>
              <a:rPr sz="1100" b="0">
                <a:solidFill>
                  <a:srgbClr val="A1A1AA"/>
                </a:solidFill>
                <a:latin typeface="Calibri"/>
              </a:rPr>
              <a:t>Render's free tier puts the backend to sleep after 15 minutes of inactivity. First request after sleep takes 30+ seconds — we documented this and explored keep-alive strategies.</a:t>
            </a:r>
          </a:p>
        </p:txBody>
      </p:sp>
      <p:sp>
        <p:nvSpPr>
          <p:cNvPr id="19" name="Rounded Rectangle 18"/>
          <p:cNvSpPr/>
          <p:nvPr/>
        </p:nvSpPr>
        <p:spPr>
          <a:xfrm>
            <a:off x="731520" y="46177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6177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709159"/>
            <a:ext cx="10332720" cy="365760"/>
          </a:xfrm>
          <a:prstGeom prst="rect">
            <a:avLst/>
          </a:prstGeom>
          <a:noFill/>
        </p:spPr>
        <p:txBody>
          <a:bodyPr wrap="square" lIns="0" rIns="0" tIns="0" bIns="0">
            <a:spAutoFit/>
          </a:bodyPr>
          <a:lstStyle/>
          <a:p>
            <a:pPr algn="l"/>
            <a:r>
              <a:rPr sz="1400" b="1">
                <a:solidFill>
                  <a:srgbClr val="FFFFFF"/>
                </a:solidFill>
                <a:latin typeface="Calibri"/>
              </a:rPr>
              <a:t>Multi-platform deployment coordination</a:t>
            </a:r>
          </a:p>
        </p:txBody>
      </p:sp>
      <p:sp>
        <p:nvSpPr>
          <p:cNvPr id="22" name="TextBox 21"/>
          <p:cNvSpPr txBox="1"/>
          <p:nvPr/>
        </p:nvSpPr>
        <p:spPr>
          <a:xfrm>
            <a:off x="960120" y="5029199"/>
            <a:ext cx="10332720" cy="457200"/>
          </a:xfrm>
          <a:prstGeom prst="rect">
            <a:avLst/>
          </a:prstGeom>
          <a:noFill/>
        </p:spPr>
        <p:txBody>
          <a:bodyPr wrap="square" lIns="0" rIns="0" tIns="0" bIns="0">
            <a:spAutoFit/>
          </a:bodyPr>
          <a:lstStyle/>
          <a:p>
            <a:pPr algn="l"/>
            <a:r>
              <a:rPr sz="1100" b="0">
                <a:solidFill>
                  <a:srgbClr val="A1A1AA"/>
                </a:solidFill>
                <a:latin typeface="Calibri"/>
              </a:rPr>
              <a:t>Coordinating GitHub → Render (backend) and GitHub → Amplify (frontend) auto-deploys, plus database migrations on Neon, required careful environment-variable management across three platforms.</a:t>
            </a:r>
          </a:p>
        </p:txBody>
      </p:sp>
      <p:sp>
        <p:nvSpPr>
          <p:cNvPr id="23" name="Rounded Rectangle 22"/>
          <p:cNvSpPr/>
          <p:nvPr/>
        </p:nvSpPr>
        <p:spPr>
          <a:xfrm>
            <a:off x="731520" y="55321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55321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5623559"/>
            <a:ext cx="10332720" cy="365760"/>
          </a:xfrm>
          <a:prstGeom prst="rect">
            <a:avLst/>
          </a:prstGeom>
          <a:noFill/>
        </p:spPr>
        <p:txBody>
          <a:bodyPr wrap="square" lIns="0" rIns="0" tIns="0" bIns="0">
            <a:spAutoFit/>
          </a:bodyPr>
          <a:lstStyle/>
          <a:p>
            <a:pPr algn="l"/>
            <a:r>
              <a:rPr sz="1400" b="1">
                <a:solidFill>
                  <a:srgbClr val="FFFFFF"/>
                </a:solidFill>
                <a:latin typeface="Calibri"/>
              </a:rPr>
              <a:t>Real-time game performance</a:t>
            </a:r>
          </a:p>
        </p:txBody>
      </p:sp>
      <p:sp>
        <p:nvSpPr>
          <p:cNvPr id="26" name="TextBox 25"/>
          <p:cNvSpPr txBox="1"/>
          <p:nvPr/>
        </p:nvSpPr>
        <p:spPr>
          <a:xfrm>
            <a:off x="960120" y="5943599"/>
            <a:ext cx="10332720" cy="457200"/>
          </a:xfrm>
          <a:prstGeom prst="rect">
            <a:avLst/>
          </a:prstGeom>
          <a:noFill/>
        </p:spPr>
        <p:txBody>
          <a:bodyPr wrap="square" lIns="0" rIns="0" tIns="0" bIns="0">
            <a:spAutoFit/>
          </a:bodyPr>
          <a:lstStyle/>
          <a:p>
            <a:pPr algn="l"/>
            <a:r>
              <a:rPr sz="1100" b="0">
                <a:solidFill>
                  <a:srgbClr val="A1A1AA"/>
                </a:solidFill>
                <a:latin typeface="Calibri"/>
              </a:rPr>
              <a:t>Running TensorFlow.js pose detection at 30+ FPS while rendering a side-scrolling game in the same browser tab pushed performance limits. Required careful optimization of the render loop.</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07  ·  WHAT'S NEXT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Future Development Plans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1</a:t>
            </a:r>
          </a:p>
        </p:txBody>
      </p:sp>
      <p:sp>
        <p:nvSpPr>
          <p:cNvPr id="9" name="TextBox 8"/>
          <p:cNvSpPr txBox="1"/>
          <p:nvPr/>
        </p:nvSpPr>
        <p:spPr>
          <a:xfrm>
            <a:off x="1508760" y="2103119"/>
            <a:ext cx="4297680" cy="411480"/>
          </a:xfrm>
          <a:prstGeom prst="rect">
            <a:avLst/>
          </a:prstGeom>
          <a:noFill/>
        </p:spPr>
        <p:txBody>
          <a:bodyPr wrap="square" lIns="0" rIns="0" tIns="0" bIns="0">
            <a:spAutoFit/>
          </a:bodyPr>
          <a:lstStyle/>
          <a:p>
            <a:pPr algn="l"/>
            <a:r>
              <a:rPr sz="1600" b="1">
                <a:solidFill>
                  <a:srgbClr val="FFFFFF"/>
                </a:solidFill>
                <a:latin typeface="Calibri"/>
              </a:rPr>
              <a:t>More Exercises</a:t>
            </a:r>
          </a:p>
        </p:txBody>
      </p:sp>
      <p:sp>
        <p:nvSpPr>
          <p:cNvPr id="10" name="TextBox 9"/>
          <p:cNvSpPr txBox="1"/>
          <p:nvPr/>
        </p:nvSpPr>
        <p:spPr>
          <a:xfrm>
            <a:off x="1508760" y="2514599"/>
            <a:ext cx="4297680" cy="731520"/>
          </a:xfrm>
          <a:prstGeom prst="rect">
            <a:avLst/>
          </a:prstGeom>
          <a:noFill/>
        </p:spPr>
        <p:txBody>
          <a:bodyPr wrap="square" lIns="0" rIns="0" tIns="0" bIns="0">
            <a:spAutoFit/>
          </a:bodyPr>
          <a:lstStyle/>
          <a:p>
            <a:pPr algn="l"/>
            <a:r>
              <a:rPr sz="1100" b="0">
                <a:solidFill>
                  <a:srgbClr val="A1A1AA"/>
                </a:solidFill>
                <a:latin typeface="Calibri"/>
              </a:rPr>
              <a:t>Add lunges, burpees, mountain climbers, and yoga poses to the pose detection library.</a:t>
            </a:r>
          </a:p>
        </p:txBody>
      </p:sp>
      <p:sp>
        <p:nvSpPr>
          <p:cNvPr id="11" name="Rounded Rectangle 10"/>
          <p:cNvSpPr/>
          <p:nvPr/>
        </p:nvSpPr>
        <p:spPr>
          <a:xfrm>
            <a:off x="612648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5508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2</a:t>
            </a:r>
          </a:p>
        </p:txBody>
      </p:sp>
      <p:sp>
        <p:nvSpPr>
          <p:cNvPr id="13" name="TextBox 12"/>
          <p:cNvSpPr txBox="1"/>
          <p:nvPr/>
        </p:nvSpPr>
        <p:spPr>
          <a:xfrm>
            <a:off x="6903720" y="2103119"/>
            <a:ext cx="4297680" cy="411480"/>
          </a:xfrm>
          <a:prstGeom prst="rect">
            <a:avLst/>
          </a:prstGeom>
          <a:noFill/>
        </p:spPr>
        <p:txBody>
          <a:bodyPr wrap="square" lIns="0" rIns="0" tIns="0" bIns="0">
            <a:spAutoFit/>
          </a:bodyPr>
          <a:lstStyle/>
          <a:p>
            <a:pPr algn="l"/>
            <a:r>
              <a:rPr sz="1600" b="1">
                <a:solidFill>
                  <a:srgbClr val="FFFFFF"/>
                </a:solidFill>
                <a:latin typeface="Calibri"/>
              </a:rPr>
              <a:t>Native Mobile App</a:t>
            </a:r>
          </a:p>
        </p:txBody>
      </p:sp>
      <p:sp>
        <p:nvSpPr>
          <p:cNvPr id="14" name="TextBox 13"/>
          <p:cNvSpPr txBox="1"/>
          <p:nvPr/>
        </p:nvSpPr>
        <p:spPr>
          <a:xfrm>
            <a:off x="6903720" y="2514599"/>
            <a:ext cx="4297680" cy="731520"/>
          </a:xfrm>
          <a:prstGeom prst="rect">
            <a:avLst/>
          </a:prstGeom>
          <a:noFill/>
        </p:spPr>
        <p:txBody>
          <a:bodyPr wrap="square" lIns="0" rIns="0" tIns="0" bIns="0">
            <a:spAutoFit/>
          </a:bodyPr>
          <a:lstStyle/>
          <a:p>
            <a:pPr algn="l"/>
            <a:r>
              <a:rPr sz="1100" b="0">
                <a:solidFill>
                  <a:srgbClr val="A1A1AA"/>
                </a:solidFill>
                <a:latin typeface="Calibri"/>
              </a:rPr>
              <a:t>Build a React Native / Expo version for iOS and Android with offline workout caching.</a:t>
            </a:r>
          </a:p>
        </p:txBody>
      </p:sp>
      <p:sp>
        <p:nvSpPr>
          <p:cNvPr id="15" name="Rounded Rectangle 14"/>
          <p:cNvSpPr/>
          <p:nvPr/>
        </p:nvSpPr>
        <p:spPr>
          <a:xfrm>
            <a:off x="73152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012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3</a:t>
            </a:r>
          </a:p>
        </p:txBody>
      </p:sp>
      <p:sp>
        <p:nvSpPr>
          <p:cNvPr id="17" name="TextBox 16"/>
          <p:cNvSpPr txBox="1"/>
          <p:nvPr/>
        </p:nvSpPr>
        <p:spPr>
          <a:xfrm>
            <a:off x="1508760" y="3611879"/>
            <a:ext cx="4297680" cy="411480"/>
          </a:xfrm>
          <a:prstGeom prst="rect">
            <a:avLst/>
          </a:prstGeom>
          <a:noFill/>
        </p:spPr>
        <p:txBody>
          <a:bodyPr wrap="square" lIns="0" rIns="0" tIns="0" bIns="0">
            <a:spAutoFit/>
          </a:bodyPr>
          <a:lstStyle/>
          <a:p>
            <a:pPr algn="l"/>
            <a:r>
              <a:rPr sz="1600" b="1">
                <a:solidFill>
                  <a:srgbClr val="FFFFFF"/>
                </a:solidFill>
                <a:latin typeface="Calibri"/>
              </a:rPr>
              <a:t>Social &amp; Leaderboards</a:t>
            </a:r>
          </a:p>
        </p:txBody>
      </p:sp>
      <p:sp>
        <p:nvSpPr>
          <p:cNvPr id="18" name="TextBox 17"/>
          <p:cNvSpPr txBox="1"/>
          <p:nvPr/>
        </p:nvSpPr>
        <p:spPr>
          <a:xfrm>
            <a:off x="1508760" y="4023359"/>
            <a:ext cx="4297680" cy="731520"/>
          </a:xfrm>
          <a:prstGeom prst="rect">
            <a:avLst/>
          </a:prstGeom>
          <a:noFill/>
        </p:spPr>
        <p:txBody>
          <a:bodyPr wrap="square" lIns="0" rIns="0" tIns="0" bIns="0">
            <a:spAutoFit/>
          </a:bodyPr>
          <a:lstStyle/>
          <a:p>
            <a:pPr algn="l"/>
            <a:r>
              <a:rPr sz="1100" b="0">
                <a:solidFill>
                  <a:srgbClr val="A1A1AA"/>
                </a:solidFill>
                <a:latin typeface="Calibri"/>
              </a:rPr>
              <a:t>Friend challenges, weekly leaderboards, and sharable workout summaries.</a:t>
            </a:r>
          </a:p>
        </p:txBody>
      </p:sp>
      <p:sp>
        <p:nvSpPr>
          <p:cNvPr id="19" name="Rounded Rectangle 18"/>
          <p:cNvSpPr/>
          <p:nvPr/>
        </p:nvSpPr>
        <p:spPr>
          <a:xfrm>
            <a:off x="612648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5508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4</a:t>
            </a:r>
          </a:p>
        </p:txBody>
      </p:sp>
      <p:sp>
        <p:nvSpPr>
          <p:cNvPr id="21" name="TextBox 20"/>
          <p:cNvSpPr txBox="1"/>
          <p:nvPr/>
        </p:nvSpPr>
        <p:spPr>
          <a:xfrm>
            <a:off x="6903720" y="3611879"/>
            <a:ext cx="4297680" cy="411480"/>
          </a:xfrm>
          <a:prstGeom prst="rect">
            <a:avLst/>
          </a:prstGeom>
          <a:noFill/>
        </p:spPr>
        <p:txBody>
          <a:bodyPr wrap="square" lIns="0" rIns="0" tIns="0" bIns="0">
            <a:spAutoFit/>
          </a:bodyPr>
          <a:lstStyle/>
          <a:p>
            <a:pPr algn="l"/>
            <a:r>
              <a:rPr sz="1600" b="1">
                <a:solidFill>
                  <a:srgbClr val="FFFFFF"/>
                </a:solidFill>
                <a:latin typeface="Calibri"/>
              </a:rPr>
              <a:t>AI Personal Trainer</a:t>
            </a:r>
          </a:p>
        </p:txBody>
      </p:sp>
      <p:sp>
        <p:nvSpPr>
          <p:cNvPr id="22" name="TextBox 21"/>
          <p:cNvSpPr txBox="1"/>
          <p:nvPr/>
        </p:nvSpPr>
        <p:spPr>
          <a:xfrm>
            <a:off x="6903720" y="4023359"/>
            <a:ext cx="4297680" cy="731520"/>
          </a:xfrm>
          <a:prstGeom prst="rect">
            <a:avLst/>
          </a:prstGeom>
          <a:noFill/>
        </p:spPr>
        <p:txBody>
          <a:bodyPr wrap="square" lIns="0" rIns="0" tIns="0" bIns="0">
            <a:spAutoFit/>
          </a:bodyPr>
          <a:lstStyle/>
          <a:p>
            <a:pPr algn="l"/>
            <a:r>
              <a:rPr sz="1100" b="0">
                <a:solidFill>
                  <a:srgbClr val="A1A1AA"/>
                </a:solidFill>
                <a:latin typeface="Calibri"/>
              </a:rPr>
              <a:t>GPT-powered coach that adapts difficulty, builds custom plans, and gives voice cues.</a:t>
            </a:r>
          </a:p>
        </p:txBody>
      </p:sp>
      <p:sp>
        <p:nvSpPr>
          <p:cNvPr id="23" name="Rounded Rectangle 22"/>
          <p:cNvSpPr/>
          <p:nvPr/>
        </p:nvSpPr>
        <p:spPr>
          <a:xfrm>
            <a:off x="73152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012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5</a:t>
            </a:r>
          </a:p>
        </p:txBody>
      </p:sp>
      <p:sp>
        <p:nvSpPr>
          <p:cNvPr id="25" name="TextBox 24"/>
          <p:cNvSpPr txBox="1"/>
          <p:nvPr/>
        </p:nvSpPr>
        <p:spPr>
          <a:xfrm>
            <a:off x="1508760" y="5120639"/>
            <a:ext cx="4297680" cy="411480"/>
          </a:xfrm>
          <a:prstGeom prst="rect">
            <a:avLst/>
          </a:prstGeom>
          <a:noFill/>
        </p:spPr>
        <p:txBody>
          <a:bodyPr wrap="square" lIns="0" rIns="0" tIns="0" bIns="0">
            <a:spAutoFit/>
          </a:bodyPr>
          <a:lstStyle/>
          <a:p>
            <a:pPr algn="l"/>
            <a:r>
              <a:rPr sz="1600" b="1">
                <a:solidFill>
                  <a:srgbClr val="FFFFFF"/>
                </a:solidFill>
                <a:latin typeface="Calibri"/>
              </a:rPr>
              <a:t>Monetization</a:t>
            </a:r>
          </a:p>
        </p:txBody>
      </p:sp>
      <p:sp>
        <p:nvSpPr>
          <p:cNvPr id="26" name="TextBox 25"/>
          <p:cNvSpPr txBox="1"/>
          <p:nvPr/>
        </p:nvSpPr>
        <p:spPr>
          <a:xfrm>
            <a:off x="1508760" y="5532119"/>
            <a:ext cx="4297680" cy="731520"/>
          </a:xfrm>
          <a:prstGeom prst="rect">
            <a:avLst/>
          </a:prstGeom>
          <a:noFill/>
        </p:spPr>
        <p:txBody>
          <a:bodyPr wrap="square" lIns="0" rIns="0" tIns="0" bIns="0">
            <a:spAutoFit/>
          </a:bodyPr>
          <a:lstStyle/>
          <a:p>
            <a:pPr algn="l"/>
            <a:r>
              <a:rPr sz="1100" b="0">
                <a:solidFill>
                  <a:srgbClr val="A1A1AA"/>
                </a:solidFill>
                <a:latin typeface="Calibri"/>
              </a:rPr>
              <a:t>Premium tier via RevenueCat with advanced analytics, custom programs, and meal plans.</a:t>
            </a:r>
          </a:p>
        </p:txBody>
      </p:sp>
      <p:sp>
        <p:nvSpPr>
          <p:cNvPr id="27" name="Rounded Rectangle 26"/>
          <p:cNvSpPr/>
          <p:nvPr/>
        </p:nvSpPr>
        <p:spPr>
          <a:xfrm>
            <a:off x="612648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5508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6</a:t>
            </a:r>
          </a:p>
        </p:txBody>
      </p:sp>
      <p:sp>
        <p:nvSpPr>
          <p:cNvPr id="29" name="TextBox 28"/>
          <p:cNvSpPr txBox="1"/>
          <p:nvPr/>
        </p:nvSpPr>
        <p:spPr>
          <a:xfrm>
            <a:off x="6903720" y="5120639"/>
            <a:ext cx="4297680" cy="411480"/>
          </a:xfrm>
          <a:prstGeom prst="rect">
            <a:avLst/>
          </a:prstGeom>
          <a:noFill/>
        </p:spPr>
        <p:txBody>
          <a:bodyPr wrap="square" lIns="0" rIns="0" tIns="0" bIns="0">
            <a:spAutoFit/>
          </a:bodyPr>
          <a:lstStyle/>
          <a:p>
            <a:pPr algn="l"/>
            <a:r>
              <a:rPr sz="1600" b="1">
                <a:solidFill>
                  <a:srgbClr val="FFFFFF"/>
                </a:solidFill>
                <a:latin typeface="Calibri"/>
              </a:rPr>
              <a:t>Wearable Integration</a:t>
            </a:r>
          </a:p>
        </p:txBody>
      </p:sp>
      <p:sp>
        <p:nvSpPr>
          <p:cNvPr id="30" name="TextBox 29"/>
          <p:cNvSpPr txBox="1"/>
          <p:nvPr/>
        </p:nvSpPr>
        <p:spPr>
          <a:xfrm>
            <a:off x="6903720" y="5532119"/>
            <a:ext cx="4297680" cy="731520"/>
          </a:xfrm>
          <a:prstGeom prst="rect">
            <a:avLst/>
          </a:prstGeom>
          <a:noFill/>
        </p:spPr>
        <p:txBody>
          <a:bodyPr wrap="square" lIns="0" rIns="0" tIns="0" bIns="0">
            <a:spAutoFit/>
          </a:bodyPr>
          <a:lstStyle/>
          <a:p>
            <a:pPr algn="l"/>
            <a:r>
              <a:rPr sz="1100" b="0">
                <a:solidFill>
                  <a:srgbClr val="A1A1AA"/>
                </a:solidFill>
                <a:latin typeface="Calibri"/>
              </a:rPr>
              <a:t>Sync with Apple Watch and Google Fit for heart-rate and calorie accuracy.</a:t>
            </a:r>
          </a:p>
        </p:txBody>
      </p:sp>
      <p:sp>
        <p:nvSpPr>
          <p:cNvPr id="31" name="TextBox 30"/>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32" name="TextBox 31"/>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08  ·  TRY IT NOW</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Prototype &amp; Live Demonstration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10698480" cy="77724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37160"/>
          <a:lstStyle/>
          <a:p>
            <a:pPr algn="ctr"/>
            <a:r>
              <a:rPr sz="2200" b="1">
                <a:solidFill>
                  <a:srgbClr val="FFFFFF"/>
                </a:solidFill>
              </a:rPr>
              <a:t>PROTOTYPE AVAILABLE — LIVE &amp; PUBLICLY ACCESSIBLE</a:t>
            </a:r>
          </a:p>
        </p:txBody>
      </p:sp>
      <p:sp>
        <p:nvSpPr>
          <p:cNvPr id="8" name="Rounded Rectangle 7"/>
          <p:cNvSpPr/>
          <p:nvPr/>
        </p:nvSpPr>
        <p:spPr>
          <a:xfrm>
            <a:off x="731520" y="3017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154680"/>
            <a:ext cx="4572000" cy="365760"/>
          </a:xfrm>
          <a:prstGeom prst="rect">
            <a:avLst/>
          </a:prstGeom>
          <a:noFill/>
        </p:spPr>
        <p:txBody>
          <a:bodyPr wrap="square" lIns="0" rIns="0" tIns="0" bIns="0">
            <a:spAutoFit/>
          </a:bodyPr>
          <a:lstStyle/>
          <a:p>
            <a:pPr algn="l"/>
            <a:r>
              <a:rPr sz="1400" b="1">
                <a:solidFill>
                  <a:srgbClr val="EF4444"/>
                </a:solidFill>
                <a:latin typeface="Calibri"/>
              </a:rPr>
              <a:t>Live Web App (Frontend)</a:t>
            </a:r>
          </a:p>
        </p:txBody>
      </p:sp>
      <p:sp>
        <p:nvSpPr>
          <p:cNvPr id="10" name="TextBox 9"/>
          <p:cNvSpPr txBox="1"/>
          <p:nvPr/>
        </p:nvSpPr>
        <p:spPr>
          <a:xfrm>
            <a:off x="1005840" y="3474720"/>
            <a:ext cx="10058400" cy="365760"/>
          </a:xfrm>
          <a:prstGeom prst="rect">
            <a:avLst/>
          </a:prstGeom>
          <a:noFill/>
        </p:spPr>
        <p:txBody>
          <a:bodyPr wrap="square" lIns="0" rIns="0" tIns="0" bIns="0">
            <a:spAutoFit/>
          </a:bodyPr>
          <a:lstStyle/>
          <a:p>
            <a:pPr algn="l"/>
            <a:r>
              <a:rPr sz="1800" b="1">
                <a:solidFill>
                  <a:srgbClr val="FFFFFF"/>
                </a:solidFill>
                <a:latin typeface="Calibri"/>
              </a:rPr>
              <a:t>main.dfi1vofcktrh3.amplifyapp.com</a:t>
            </a:r>
          </a:p>
        </p:txBody>
      </p:sp>
      <p:sp>
        <p:nvSpPr>
          <p:cNvPr id="11" name="TextBox 10"/>
          <p:cNvSpPr txBox="1"/>
          <p:nvPr/>
        </p:nvSpPr>
        <p:spPr>
          <a:xfrm>
            <a:off x="1005840" y="3794760"/>
            <a:ext cx="10058400" cy="274320"/>
          </a:xfrm>
          <a:prstGeom prst="rect">
            <a:avLst/>
          </a:prstGeom>
          <a:noFill/>
        </p:spPr>
        <p:txBody>
          <a:bodyPr wrap="square" lIns="0" rIns="0" tIns="0" bIns="0">
            <a:spAutoFit/>
          </a:bodyPr>
          <a:lstStyle/>
          <a:p>
            <a:pPr algn="l"/>
            <a:r>
              <a:rPr sz="1100" b="0">
                <a:solidFill>
                  <a:srgbClr val="A1A1AA"/>
                </a:solidFill>
                <a:latin typeface="Calibri"/>
              </a:rPr>
              <a:t>Hosted on AWS Amplify</a:t>
            </a:r>
          </a:p>
        </p:txBody>
      </p:sp>
      <p:sp>
        <p:nvSpPr>
          <p:cNvPr id="12" name="Rounded Rectangle 11"/>
          <p:cNvSpPr/>
          <p:nvPr/>
        </p:nvSpPr>
        <p:spPr>
          <a:xfrm>
            <a:off x="731520" y="4160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297680"/>
            <a:ext cx="4572000" cy="365760"/>
          </a:xfrm>
          <a:prstGeom prst="rect">
            <a:avLst/>
          </a:prstGeom>
          <a:noFill/>
        </p:spPr>
        <p:txBody>
          <a:bodyPr wrap="square" lIns="0" rIns="0" tIns="0" bIns="0">
            <a:spAutoFit/>
          </a:bodyPr>
          <a:lstStyle/>
          <a:p>
            <a:pPr algn="l"/>
            <a:r>
              <a:rPr sz="1400" b="1">
                <a:solidFill>
                  <a:srgbClr val="EF4444"/>
                </a:solidFill>
                <a:latin typeface="Calibri"/>
              </a:rPr>
              <a:t>Backend API</a:t>
            </a:r>
          </a:p>
        </p:txBody>
      </p:sp>
      <p:sp>
        <p:nvSpPr>
          <p:cNvPr id="14" name="TextBox 13"/>
          <p:cNvSpPr txBox="1"/>
          <p:nvPr/>
        </p:nvSpPr>
        <p:spPr>
          <a:xfrm>
            <a:off x="1005840" y="4617720"/>
            <a:ext cx="10058400" cy="365760"/>
          </a:xfrm>
          <a:prstGeom prst="rect">
            <a:avLst/>
          </a:prstGeom>
          <a:noFill/>
        </p:spPr>
        <p:txBody>
          <a:bodyPr wrap="square" lIns="0" rIns="0" tIns="0" bIns="0">
            <a:spAutoFit/>
          </a:bodyPr>
          <a:lstStyle/>
          <a:p>
            <a:pPr algn="l"/>
            <a:r>
              <a:rPr sz="1800" b="1">
                <a:solidFill>
                  <a:srgbClr val="FFFFFF"/>
                </a:solidFill>
                <a:latin typeface="Calibri"/>
              </a:rPr>
              <a:t>grd-project-server.onrender.com</a:t>
            </a:r>
          </a:p>
        </p:txBody>
      </p:sp>
      <p:sp>
        <p:nvSpPr>
          <p:cNvPr id="15" name="TextBox 14"/>
          <p:cNvSpPr txBox="1"/>
          <p:nvPr/>
        </p:nvSpPr>
        <p:spPr>
          <a:xfrm>
            <a:off x="1005840" y="4937760"/>
            <a:ext cx="10058400" cy="274320"/>
          </a:xfrm>
          <a:prstGeom prst="rect">
            <a:avLst/>
          </a:prstGeom>
          <a:noFill/>
        </p:spPr>
        <p:txBody>
          <a:bodyPr wrap="square" lIns="0" rIns="0" tIns="0" bIns="0">
            <a:spAutoFit/>
          </a:bodyPr>
          <a:lstStyle/>
          <a:p>
            <a:pPr algn="l"/>
            <a:r>
              <a:rPr sz="1100" b="0">
                <a:solidFill>
                  <a:srgbClr val="A1A1AA"/>
                </a:solidFill>
                <a:latin typeface="Calibri"/>
              </a:rPr>
              <a:t>Hosted on Render</a:t>
            </a:r>
          </a:p>
        </p:txBody>
      </p:sp>
      <p:sp>
        <p:nvSpPr>
          <p:cNvPr id="16" name="Rounded Rectangle 15"/>
          <p:cNvSpPr/>
          <p:nvPr/>
        </p:nvSpPr>
        <p:spPr>
          <a:xfrm>
            <a:off x="731520" y="5303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440680"/>
            <a:ext cx="4572000" cy="365760"/>
          </a:xfrm>
          <a:prstGeom prst="rect">
            <a:avLst/>
          </a:prstGeom>
          <a:noFill/>
        </p:spPr>
        <p:txBody>
          <a:bodyPr wrap="square" lIns="0" rIns="0" tIns="0" bIns="0">
            <a:spAutoFit/>
          </a:bodyPr>
          <a:lstStyle/>
          <a:p>
            <a:pPr algn="l"/>
            <a:r>
              <a:rPr sz="1400" b="1">
                <a:solidFill>
                  <a:srgbClr val="EF4444"/>
                </a:solidFill>
                <a:latin typeface="Calibri"/>
              </a:rPr>
              <a:t>Source Code</a:t>
            </a:r>
          </a:p>
        </p:txBody>
      </p:sp>
      <p:sp>
        <p:nvSpPr>
          <p:cNvPr id="18" name="TextBox 17"/>
          <p:cNvSpPr txBox="1"/>
          <p:nvPr/>
        </p:nvSpPr>
        <p:spPr>
          <a:xfrm>
            <a:off x="1005840" y="5760720"/>
            <a:ext cx="10058400" cy="365760"/>
          </a:xfrm>
          <a:prstGeom prst="rect">
            <a:avLst/>
          </a:prstGeom>
          <a:noFill/>
        </p:spPr>
        <p:txBody>
          <a:bodyPr wrap="square" lIns="0" rIns="0" tIns="0" bIns="0">
            <a:spAutoFit/>
          </a:bodyPr>
          <a:lstStyle/>
          <a:p>
            <a:pPr algn="l"/>
            <a:r>
              <a:rPr sz="1800" b="1">
                <a:solidFill>
                  <a:srgbClr val="FFFFFF"/>
                </a:solidFill>
                <a:latin typeface="Calibri"/>
              </a:rPr>
              <a:t>github.com/nv23158-mohammed-jasim/GRD-PROJECT</a:t>
            </a:r>
          </a:p>
        </p:txBody>
      </p:sp>
      <p:sp>
        <p:nvSpPr>
          <p:cNvPr id="19" name="TextBox 18"/>
          <p:cNvSpPr txBox="1"/>
          <p:nvPr/>
        </p:nvSpPr>
        <p:spPr>
          <a:xfrm>
            <a:off x="1005840" y="6080760"/>
            <a:ext cx="10058400" cy="274320"/>
          </a:xfrm>
          <a:prstGeom prst="rect">
            <a:avLst/>
          </a:prstGeom>
          <a:noFill/>
        </p:spPr>
        <p:txBody>
          <a:bodyPr wrap="square" lIns="0" rIns="0" tIns="0" bIns="0">
            <a:spAutoFit/>
          </a:bodyPr>
          <a:lstStyle/>
          <a:p>
            <a:pPr algn="l"/>
            <a:r>
              <a:rPr sz="1100" b="0">
                <a:solidFill>
                  <a:srgbClr val="A1A1AA"/>
                </a:solidFill>
                <a:latin typeface="Calibri"/>
              </a:rPr>
              <a:t>Full source on GitHub</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09  ·  GALLERY</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Project Photos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920240"/>
            <a:ext cx="5394960" cy="214884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_1776638568991.png"/>
          <p:cNvPicPr>
            <a:picLocks noChangeAspect="1"/>
          </p:cNvPicPr>
          <p:nvPr/>
        </p:nvPicPr>
        <p:blipFill>
          <a:blip r:embed="rId2"/>
          <a:stretch>
            <a:fillRect/>
          </a:stretch>
        </p:blipFill>
        <p:spPr>
          <a:xfrm>
            <a:off x="777240" y="1965960"/>
            <a:ext cx="5303520" cy="2057400"/>
          </a:xfrm>
          <a:prstGeom prst="rect">
            <a:avLst/>
          </a:prstGeom>
        </p:spPr>
      </p:pic>
      <p:sp>
        <p:nvSpPr>
          <p:cNvPr id="9" name="Rectangle 8"/>
          <p:cNvSpPr/>
          <p:nvPr/>
        </p:nvSpPr>
        <p:spPr>
          <a:xfrm>
            <a:off x="6217920" y="1920240"/>
            <a:ext cx="5394960" cy="214884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_1776634602123.png"/>
          <p:cNvPicPr>
            <a:picLocks noChangeAspect="1"/>
          </p:cNvPicPr>
          <p:nvPr/>
        </p:nvPicPr>
        <p:blipFill>
          <a:blip r:embed="rId3"/>
          <a:stretch>
            <a:fillRect/>
          </a:stretch>
        </p:blipFill>
        <p:spPr>
          <a:xfrm>
            <a:off x="6263640" y="1965960"/>
            <a:ext cx="5303520" cy="2057400"/>
          </a:xfrm>
          <a:prstGeom prst="rect">
            <a:avLst/>
          </a:prstGeom>
        </p:spPr>
      </p:pic>
      <p:sp>
        <p:nvSpPr>
          <p:cNvPr id="11" name="Rectangle 10"/>
          <p:cNvSpPr/>
          <p:nvPr/>
        </p:nvSpPr>
        <p:spPr>
          <a:xfrm>
            <a:off x="731520" y="4206240"/>
            <a:ext cx="5394960" cy="214884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_1776633549672.png"/>
          <p:cNvPicPr>
            <a:picLocks noChangeAspect="1"/>
          </p:cNvPicPr>
          <p:nvPr/>
        </p:nvPicPr>
        <p:blipFill>
          <a:blip r:embed="rId4"/>
          <a:stretch>
            <a:fillRect/>
          </a:stretch>
        </p:blipFill>
        <p:spPr>
          <a:xfrm>
            <a:off x="777240" y="4251960"/>
            <a:ext cx="5303520" cy="2057400"/>
          </a:xfrm>
          <a:prstGeom prst="rect">
            <a:avLst/>
          </a:prstGeom>
        </p:spPr>
      </p:pic>
      <p:sp>
        <p:nvSpPr>
          <p:cNvPr id="13" name="Rectangle 12"/>
          <p:cNvSpPr/>
          <p:nvPr/>
        </p:nvSpPr>
        <p:spPr>
          <a:xfrm>
            <a:off x="6217920" y="4206240"/>
            <a:ext cx="5394960" cy="214884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_1776633503273.png"/>
          <p:cNvPicPr>
            <a:picLocks noChangeAspect="1"/>
          </p:cNvPicPr>
          <p:nvPr/>
        </p:nvPicPr>
        <p:blipFill>
          <a:blip r:embed="rId5"/>
          <a:stretch>
            <a:fillRect/>
          </a:stretch>
        </p:blipFill>
        <p:spPr>
          <a:xfrm>
            <a:off x="6263640" y="4251960"/>
            <a:ext cx="5303520" cy="2057400"/>
          </a:xfrm>
          <a:prstGeom prst="rect">
            <a:avLst/>
          </a:prstGeom>
        </p:spPr>
      </p:pic>
      <p:sp>
        <p:nvSpPr>
          <p:cNvPr id="15" name="TextBox 14"/>
          <p:cNvSpPr txBox="1"/>
          <p:nvPr/>
        </p:nvSpPr>
        <p:spPr>
          <a:xfrm>
            <a:off x="731520" y="6400800"/>
            <a:ext cx="10698480" cy="274320"/>
          </a:xfrm>
          <a:prstGeom prst="rect">
            <a:avLst/>
          </a:prstGeom>
          <a:noFill/>
        </p:spPr>
        <p:txBody>
          <a:bodyPr wrap="square" lIns="0" rIns="0" tIns="0" bIns="0">
            <a:spAutoFit/>
          </a:bodyPr>
          <a:lstStyle/>
          <a:p>
            <a:pPr algn="ctr"/>
            <a:r>
              <a:rPr sz="1100" b="0">
                <a:solidFill>
                  <a:srgbClr val="A1A1AA"/>
                </a:solidFill>
                <a:latin typeface="Calibri"/>
              </a:rPr>
              <a:t>Screenshots from the LAB project (database, admin panel, app UI)</a:t>
            </a:r>
          </a:p>
        </p:txBody>
      </p:sp>
      <p:sp>
        <p:nvSpPr>
          <p:cNvPr id="16" name="TextBox 15"/>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17" name="TextBox 16"/>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11247120" cy="1828800"/>
          </a:xfrm>
          <a:prstGeom prst="rect">
            <a:avLst/>
          </a:prstGeom>
          <a:noFill/>
        </p:spPr>
        <p:txBody>
          <a:bodyPr wrap="none">
            <a:spAutoFit/>
          </a:bodyPr>
          <a:lstStyle/>
          <a:p>
            <a:pPr algn="ctr"/>
            <a:r>
              <a:rPr sz="8000" b="1">
                <a:solidFill>
                  <a:srgbClr val="DC2626"/>
                </a:solidFill>
              </a:rPr>
              <a:t>THANK YOU</a:t>
            </a:r>
          </a:p>
        </p:txBody>
      </p:sp>
      <p:sp>
        <p:nvSpPr>
          <p:cNvPr id="4" name="TextBox 3"/>
          <p:cNvSpPr txBox="1"/>
          <p:nvPr/>
        </p:nvSpPr>
        <p:spPr>
          <a:xfrm>
            <a:off x="457200" y="3291840"/>
            <a:ext cx="11247120" cy="548640"/>
          </a:xfrm>
          <a:prstGeom prst="rect">
            <a:avLst/>
          </a:prstGeom>
          <a:noFill/>
        </p:spPr>
        <p:txBody>
          <a:bodyPr wrap="square" lIns="0" rIns="0" tIns="0" bIns="0">
            <a:spAutoFit/>
          </a:bodyPr>
          <a:lstStyle/>
          <a:p>
            <a:pPr algn="ctr"/>
            <a:r>
              <a:rPr sz="2600" b="0">
                <a:solidFill>
                  <a:srgbClr val="FFFFFF"/>
                </a:solidFill>
                <a:latin typeface="Calibri"/>
              </a:rPr>
              <a:t>Questions &amp; Discussion</a:t>
            </a:r>
          </a:p>
        </p:txBody>
      </p:sp>
      <p:sp>
        <p:nvSpPr>
          <p:cNvPr id="5" name="Rectangle 4"/>
          <p:cNvSpPr/>
          <p:nvPr/>
        </p:nvSpPr>
        <p:spPr>
          <a:xfrm>
            <a:off x="5029200" y="4206240"/>
            <a:ext cx="210312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434840"/>
            <a:ext cx="11247120" cy="365760"/>
          </a:xfrm>
          <a:prstGeom prst="rect">
            <a:avLst/>
          </a:prstGeom>
          <a:noFill/>
        </p:spPr>
        <p:txBody>
          <a:bodyPr wrap="square" lIns="0" rIns="0" tIns="0" bIns="0">
            <a:spAutoFit/>
          </a:bodyPr>
          <a:lstStyle/>
          <a:p>
            <a:pPr algn="ctr"/>
            <a:r>
              <a:rPr sz="1400" b="0">
                <a:solidFill>
                  <a:srgbClr val="A1A1AA"/>
                </a:solidFill>
                <a:latin typeface="Calibri"/>
              </a:rPr>
              <a:t>LAB — AI-Powered Fitness Tracking</a:t>
            </a:r>
          </a:p>
        </p:txBody>
      </p:sp>
      <p:sp>
        <p:nvSpPr>
          <p:cNvPr id="7" name="TextBox 6"/>
          <p:cNvSpPr txBox="1"/>
          <p:nvPr/>
        </p:nvSpPr>
        <p:spPr>
          <a:xfrm>
            <a:off x="457200" y="4800600"/>
            <a:ext cx="11247120" cy="365760"/>
          </a:xfrm>
          <a:prstGeom prst="rect">
            <a:avLst/>
          </a:prstGeom>
          <a:noFill/>
        </p:spPr>
        <p:txBody>
          <a:bodyPr wrap="square" lIns="0" rIns="0" tIns="0" bIns="0">
            <a:spAutoFit/>
          </a:bodyPr>
          <a:lstStyle/>
          <a:p>
            <a:pPr algn="ctr"/>
            <a:r>
              <a:rPr sz="1300" b="0">
                <a:solidFill>
                  <a:srgbClr val="A1A1AA"/>
                </a:solidFill>
                <a:latin typeface="Calibri"/>
              </a:rPr>
              <a:t>Class 12.CCP  •  Cloud Computing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